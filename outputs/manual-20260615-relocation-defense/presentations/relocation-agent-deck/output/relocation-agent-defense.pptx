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>
        <p:scale>
          <a:sx n="77" d="100"/>
          <a:sy n="77" d="100"/>
        </p:scale>
        <p:origin x="1248" y="1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B783BB0A-8414-4818-AA6A-AE81406FA21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142749E-106A-4A1D-93C7-0BB326055B90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ФИНАЛЬНАЯ РАБОТА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FF892D4-2C74-448B-894D-6EB3F6C57348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13919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Агент подбора аренды и релокации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7796DC39-4526-486C-8DB9-03EB83DD3FF7}"/>
              </a:ext>
            </a:extLst>
          </p:cNvPr>
          <p:cNvSpPr>
            <a:spLocks noGrp="1"/>
          </p:cNvSpPr>
          <p:nvPr/>
        </p:nvSpPr>
        <p:spPr>
          <a:xfrm>
            <a:off x="400050" y="1085850"/>
            <a:ext cx="7181850" cy="2667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4F87A3D6-4A67-42E4-BA4F-BD09D275684D}"/>
              </a:ext>
            </a:extLst>
          </p:cNvPr>
          <p:cNvSpPr>
            <a:spLocks noGrp="1"/>
          </p:cNvSpPr>
          <p:nvPr/>
        </p:nvSpPr>
        <p:spPr>
          <a:xfrm>
            <a:off x="514350" y="1152525"/>
            <a:ext cx="695325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ЧТО ПОКАЗЫВАЕМ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6A97129-D017-4C88-B065-556E3512190D}"/>
              </a:ext>
            </a:extLst>
          </p:cNvPr>
          <p:cNvSpPr>
            <a:spLocks noGrp="1"/>
          </p:cNvSpPr>
          <p:nvPr/>
        </p:nvSpPr>
        <p:spPr>
          <a:xfrm>
            <a:off x="400050" y="1485900"/>
            <a:ext cx="7181850" cy="8572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Как показать именно агента, а не просто хороший чат?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5547618-8B04-4E92-AFBA-0137F16F574D}"/>
              </a:ext>
            </a:extLst>
          </p:cNvPr>
          <p:cNvSpPr>
            <a:spLocks noGrp="1"/>
          </p:cNvSpPr>
          <p:nvPr/>
        </p:nvSpPr>
        <p:spPr>
          <a:xfrm>
            <a:off x="400050" y="2476500"/>
            <a:ext cx="718185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Смотрим не только на финальный ответ, а на весь управляемый путь: от понимания кейса до безопасного human handoff.</a:t>
            </a: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5BEEC231-E5D3-409F-B136-190169EC0AEC}"/>
              </a:ext>
            </a:extLst>
          </p:cNvPr>
          <p:cNvSpPr>
            <a:spLocks noGrp="1"/>
          </p:cNvSpPr>
          <p:nvPr/>
        </p:nvSpPr>
        <p:spPr>
          <a:xfrm>
            <a:off x="400050" y="3162300"/>
            <a:ext cx="3533775" cy="1181100"/>
          </a:xfrm>
          <a:prstGeom prst="roundRect">
            <a:avLst>
              <a:gd name="adj" fmla="val 20968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71C8E3CF-8404-4D10-BD19-799FE5B00A80}"/>
              </a:ext>
            </a:extLst>
          </p:cNvPr>
          <p:cNvSpPr>
            <a:spLocks noGrp="1"/>
          </p:cNvSpPr>
          <p:nvPr/>
        </p:nvSpPr>
        <p:spPr>
          <a:xfrm>
            <a:off x="552450" y="3295650"/>
            <a:ext cx="3228975" cy="2667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8CBFEEC-7CFB-4691-A471-82E878566167}"/>
              </a:ext>
            </a:extLst>
          </p:cNvPr>
          <p:cNvSpPr>
            <a:spLocks noGrp="1"/>
          </p:cNvSpPr>
          <p:nvPr/>
        </p:nvSpPr>
        <p:spPr>
          <a:xfrm>
            <a:off x="666750" y="3362325"/>
            <a:ext cx="3000375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ПОДБОР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D1D1178-8AEC-46FB-BBF9-6127DBAE9D3E}"/>
              </a:ext>
            </a:extLst>
          </p:cNvPr>
          <p:cNvSpPr>
            <a:spLocks noGrp="1"/>
          </p:cNvSpPr>
          <p:nvPr/>
        </p:nvSpPr>
        <p:spPr>
          <a:xfrm>
            <a:off x="552450" y="3638550"/>
            <a:ext cx="3228975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Подбор под кейс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3E825AC-B74A-4F56-9ECF-32EF18CFE839}"/>
              </a:ext>
            </a:extLst>
          </p:cNvPr>
          <p:cNvSpPr>
            <a:spLocks noGrp="1"/>
          </p:cNvSpPr>
          <p:nvPr/>
        </p:nvSpPr>
        <p:spPr>
          <a:xfrm>
            <a:off x="552450" y="3981450"/>
            <a:ext cx="3228975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Город, бюджет, семья, питомцы и commute.</a:t>
            </a: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876E7DDE-0302-4089-BEF0-C31C93D2C8CA}"/>
              </a:ext>
            </a:extLst>
          </p:cNvPr>
          <p:cNvSpPr>
            <a:spLocks noGrp="1"/>
          </p:cNvSpPr>
          <p:nvPr/>
        </p:nvSpPr>
        <p:spPr>
          <a:xfrm>
            <a:off x="4048125" y="3162300"/>
            <a:ext cx="3533775" cy="1181100"/>
          </a:xfrm>
          <a:prstGeom prst="roundRect">
            <a:avLst>
              <a:gd name="adj" fmla="val 20968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7E834DDF-64E4-4A15-B263-CA5FCAAFB3EE}"/>
              </a:ext>
            </a:extLst>
          </p:cNvPr>
          <p:cNvSpPr>
            <a:spLocks noGrp="1"/>
          </p:cNvSpPr>
          <p:nvPr/>
        </p:nvSpPr>
        <p:spPr>
          <a:xfrm>
            <a:off x="4200525" y="3295650"/>
            <a:ext cx="3228975" cy="266700"/>
          </a:xfrm>
          <a:prstGeom prst="roundRect">
            <a:avLst>
              <a:gd name="adj" fmla="val 50000"/>
            </a:avLst>
          </a:prstGeom>
          <a:solidFill>
            <a:srgbClr val="ECFEFF"/>
          </a:solidFill>
          <a:ln w="9525">
            <a:solidFill>
              <a:srgbClr val="ECFEFF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EBF367CB-9027-4530-8A79-A9F9AA6AF169}"/>
              </a:ext>
            </a:extLst>
          </p:cNvPr>
          <p:cNvSpPr>
            <a:spLocks noGrp="1"/>
          </p:cNvSpPr>
          <p:nvPr/>
        </p:nvSpPr>
        <p:spPr>
          <a:xfrm>
            <a:off x="4314825" y="3362325"/>
            <a:ext cx="3000375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t>ПАМЯТЬ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CD838E0-C385-4F1F-82F0-3BBF84E75D10}"/>
              </a:ext>
            </a:extLst>
          </p:cNvPr>
          <p:cNvSpPr>
            <a:spLocks noGrp="1"/>
          </p:cNvSpPr>
          <p:nvPr/>
        </p:nvSpPr>
        <p:spPr>
          <a:xfrm>
            <a:off x="4200525" y="3638550"/>
            <a:ext cx="3228975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Память между запусками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FFDA60D-8620-42B2-BAD8-DB3094159A3A}"/>
              </a:ext>
            </a:extLst>
          </p:cNvPr>
          <p:cNvSpPr>
            <a:spLocks noGrp="1"/>
          </p:cNvSpPr>
          <p:nvPr/>
        </p:nvSpPr>
        <p:spPr>
          <a:xfrm>
            <a:off x="4200525" y="3981450"/>
            <a:ext cx="3228975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Новый run помнит прошлый shortlist.</a:t>
            </a: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D74DB60-3CD6-40E9-8245-71FC50B0A935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3533775" cy="1181100"/>
          </a:xfrm>
          <a:prstGeom prst="roundRect">
            <a:avLst>
              <a:gd name="adj" fmla="val 20968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8508853D-BDFE-461B-9873-0B086971D1CE}"/>
              </a:ext>
            </a:extLst>
          </p:cNvPr>
          <p:cNvSpPr>
            <a:spLocks noGrp="1"/>
          </p:cNvSpPr>
          <p:nvPr/>
        </p:nvSpPr>
        <p:spPr>
          <a:xfrm>
            <a:off x="552450" y="4476750"/>
            <a:ext cx="3228975" cy="26670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242007F-CD98-45D2-B437-C54A629E4DE0}"/>
              </a:ext>
            </a:extLst>
          </p:cNvPr>
          <p:cNvSpPr>
            <a:spLocks noGrp="1"/>
          </p:cNvSpPr>
          <p:nvPr/>
        </p:nvSpPr>
        <p:spPr>
          <a:xfrm>
            <a:off x="666750" y="4543425"/>
            <a:ext cx="3000375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t>БЕЗОПАСНОСТЬ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C478A8B1-50C4-433C-B82B-3B04C5AF3427}"/>
              </a:ext>
            </a:extLst>
          </p:cNvPr>
          <p:cNvSpPr>
            <a:spLocks noGrp="1"/>
          </p:cNvSpPr>
          <p:nvPr/>
        </p:nvSpPr>
        <p:spPr>
          <a:xfrm>
            <a:off x="552450" y="4819650"/>
            <a:ext cx="3228975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Безопасная остановка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4FB37AB7-6157-4009-87CE-568AD5E61CB0}"/>
              </a:ext>
            </a:extLst>
          </p:cNvPr>
          <p:cNvSpPr>
            <a:spLocks noGrp="1"/>
          </p:cNvSpPr>
          <p:nvPr/>
        </p:nvSpPr>
        <p:spPr>
          <a:xfrm>
            <a:off x="552450" y="5162550"/>
            <a:ext cx="3228975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Риск идёт в clarification или handoff.</a:t>
            </a: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4F039062-9A6E-400C-9282-9A45AE12C87A}"/>
              </a:ext>
            </a:extLst>
          </p:cNvPr>
          <p:cNvSpPr>
            <a:spLocks noGrp="1"/>
          </p:cNvSpPr>
          <p:nvPr/>
        </p:nvSpPr>
        <p:spPr>
          <a:xfrm>
            <a:off x="4048125" y="4343400"/>
            <a:ext cx="3533775" cy="1181100"/>
          </a:xfrm>
          <a:prstGeom prst="roundRect">
            <a:avLst>
              <a:gd name="adj" fmla="val 20968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791B3445-F140-46CE-9340-653CBE8601AB}"/>
              </a:ext>
            </a:extLst>
          </p:cNvPr>
          <p:cNvSpPr>
            <a:spLocks noGrp="1"/>
          </p:cNvSpPr>
          <p:nvPr/>
        </p:nvSpPr>
        <p:spPr>
          <a:xfrm>
            <a:off x="4200525" y="4476750"/>
            <a:ext cx="3228975" cy="266700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 w="9525">
            <a:solidFill>
              <a:srgbClr val="FEF2F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B675167C-4D63-4EC9-8803-ED483C36872B}"/>
              </a:ext>
            </a:extLst>
          </p:cNvPr>
          <p:cNvSpPr>
            <a:spLocks noGrp="1"/>
          </p:cNvSpPr>
          <p:nvPr/>
        </p:nvSpPr>
        <p:spPr>
          <a:xfrm>
            <a:off x="4314825" y="4543425"/>
            <a:ext cx="3000375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t>ИНТЕГРАЦИИ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FCA00685-2E2E-4076-950D-E175E1A4DAAE}"/>
              </a:ext>
            </a:extLst>
          </p:cNvPr>
          <p:cNvSpPr>
            <a:spLocks noGrp="1"/>
          </p:cNvSpPr>
          <p:nvPr/>
        </p:nvSpPr>
        <p:spPr>
          <a:xfrm>
            <a:off x="4200525" y="4819650"/>
            <a:ext cx="3228975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Live-источники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547221E2-C319-41D1-94E8-5032A99279A3}"/>
              </a:ext>
            </a:extLst>
          </p:cNvPr>
          <p:cNvSpPr>
            <a:spLocks noGrp="1"/>
          </p:cNvSpPr>
          <p:nvPr/>
        </p:nvSpPr>
        <p:spPr>
          <a:xfrm>
            <a:off x="4200525" y="5162550"/>
            <a:ext cx="3228975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MCP даёт свежие карточки, fallback остаётся локальным.</a:t>
            </a:r>
          </a:p>
        </p:txBody>
      </p:sp>
      <p:sp>
        <p:nvSpPr>
          <p:cNvPr id="28" name="Скругленный прямоугольник 27">
            <a:extLst>
              <a:ext uri="{FF2B5EF4-FFF2-40B4-BE49-F238E27FC236}">
                <a16:creationId xmlns:a16="http://schemas.microsoft.com/office/drawing/2014/main" id="{E6D3ADFC-5882-4A14-ABB6-05A27638BAD7}"/>
              </a:ext>
            </a:extLst>
          </p:cNvPr>
          <p:cNvSpPr>
            <a:spLocks noGrp="1"/>
          </p:cNvSpPr>
          <p:nvPr/>
        </p:nvSpPr>
        <p:spPr>
          <a:xfrm>
            <a:off x="400050" y="5657850"/>
            <a:ext cx="7181850" cy="895350"/>
          </a:xfrm>
          <a:prstGeom prst="roundRect">
            <a:avLst>
              <a:gd name="adj" fmla="val 27660"/>
            </a:avLst>
          </a:prstGeom>
          <a:solidFill>
            <a:srgbClr val="ECFE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37C8DD8-7BC3-4DEE-A99F-8CC2B26BFB37}"/>
              </a:ext>
            </a:extLst>
          </p:cNvPr>
          <p:cNvSpPr>
            <a:spLocks noGrp="1"/>
          </p:cNvSpPr>
          <p:nvPr/>
        </p:nvSpPr>
        <p:spPr>
          <a:xfrm>
            <a:off x="590550" y="5829300"/>
            <a:ext cx="680085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1 кейс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0C3029B6-0DF3-4AC1-9827-373EC359742E}"/>
              </a:ext>
            </a:extLst>
          </p:cNvPr>
          <p:cNvSpPr>
            <a:spLocks noGrp="1"/>
          </p:cNvSpPr>
          <p:nvPr/>
        </p:nvSpPr>
        <p:spPr>
          <a:xfrm>
            <a:off x="590550" y="6229350"/>
            <a:ext cx="680085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1 run = shortlist + объяснение + guardrails</a:t>
            </a:r>
          </a:p>
        </p:txBody>
      </p:sp>
      <p:sp>
        <p:nvSpPr>
          <p:cNvPr id="31" name="Скругленный прямоугольник 30">
            <a:extLst>
              <a:ext uri="{FF2B5EF4-FFF2-40B4-BE49-F238E27FC236}">
                <a16:creationId xmlns:a16="http://schemas.microsoft.com/office/drawing/2014/main" id="{B03938DA-6518-41AA-B85F-3079DF0921A0}"/>
              </a:ext>
            </a:extLst>
          </p:cNvPr>
          <p:cNvSpPr>
            <a:spLocks noGrp="1"/>
          </p:cNvSpPr>
          <p:nvPr/>
        </p:nvSpPr>
        <p:spPr>
          <a:xfrm>
            <a:off x="7791450" y="1085850"/>
            <a:ext cx="4000500" cy="3162300"/>
          </a:xfrm>
          <a:prstGeom prst="roundRect">
            <a:avLst>
              <a:gd name="adj" fmla="val 7831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34" name="Скругленный прямоугольник 33">
            <a:extLst>
              <a:ext uri="{FF2B5EF4-FFF2-40B4-BE49-F238E27FC236}">
                <a16:creationId xmlns:a16="http://schemas.microsoft.com/office/drawing/2014/main" id="{900DEC06-74F8-4042-8AD5-22ED0BDC08DD}"/>
              </a:ext>
            </a:extLst>
          </p:cNvPr>
          <p:cNvSpPr>
            <a:spLocks noGrp="1"/>
          </p:cNvSpPr>
          <p:nvPr/>
        </p:nvSpPr>
        <p:spPr>
          <a:xfrm>
            <a:off x="7791450" y="4381500"/>
            <a:ext cx="1943100" cy="2171700"/>
          </a:xfrm>
          <a:prstGeom prst="roundRect">
            <a:avLst>
              <a:gd name="adj" fmla="val 12745"/>
            </a:avLst>
          </a:prstGeom>
          <a:solidFill>
            <a:srgbClr val="EFF6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AFD9FD4C-378D-4913-90F9-5973B0D125DC}"/>
              </a:ext>
            </a:extLst>
          </p:cNvPr>
          <p:cNvSpPr>
            <a:spLocks noGrp="1"/>
          </p:cNvSpPr>
          <p:nvPr/>
        </p:nvSpPr>
        <p:spPr>
          <a:xfrm>
            <a:off x="7981950" y="4552950"/>
            <a:ext cx="15621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9</a:t>
            </a: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E2B14B87-74FD-4983-BF69-BCBD85EC7F03}"/>
              </a:ext>
            </a:extLst>
          </p:cNvPr>
          <p:cNvSpPr>
            <a:spLocks noGrp="1"/>
          </p:cNvSpPr>
          <p:nvPr/>
        </p:nvSpPr>
        <p:spPr>
          <a:xfrm>
            <a:off x="7981950" y="4953000"/>
            <a:ext cx="15621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узлов в trace</a:t>
            </a:r>
          </a:p>
        </p:txBody>
      </p:sp>
      <p:sp>
        <p:nvSpPr>
          <p:cNvPr id="37" name="Скругленный прямоугольник 36">
            <a:extLst>
              <a:ext uri="{FF2B5EF4-FFF2-40B4-BE49-F238E27FC236}">
                <a16:creationId xmlns:a16="http://schemas.microsoft.com/office/drawing/2014/main" id="{781BD214-7231-4B59-BB80-30460DF64F07}"/>
              </a:ext>
            </a:extLst>
          </p:cNvPr>
          <p:cNvSpPr>
            <a:spLocks noGrp="1"/>
          </p:cNvSpPr>
          <p:nvPr/>
        </p:nvSpPr>
        <p:spPr>
          <a:xfrm>
            <a:off x="9848850" y="4381500"/>
            <a:ext cx="1943100" cy="2171700"/>
          </a:xfrm>
          <a:prstGeom prst="roundRect">
            <a:avLst>
              <a:gd name="adj" fmla="val 12745"/>
            </a:avLst>
          </a:prstGeom>
          <a:solidFill>
            <a:srgbClr val="FFF7ED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5671A45-DA0C-46CD-9D44-8BA64B9ED5D7}"/>
              </a:ext>
            </a:extLst>
          </p:cNvPr>
          <p:cNvSpPr>
            <a:spLocks noGrp="1"/>
          </p:cNvSpPr>
          <p:nvPr/>
        </p:nvSpPr>
        <p:spPr>
          <a:xfrm>
            <a:off x="10039350" y="4552950"/>
            <a:ext cx="15621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3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8CC19B30-09EA-4CAE-9CD9-2337FBF89F40}"/>
              </a:ext>
            </a:extLst>
          </p:cNvPr>
          <p:cNvSpPr>
            <a:spLocks noGrp="1"/>
          </p:cNvSpPr>
          <p:nvPr/>
        </p:nvSpPr>
        <p:spPr>
          <a:xfrm>
            <a:off x="10039350" y="4953000"/>
            <a:ext cx="15621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demo-сценария для защиты</a:t>
            </a:r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1777C607-45CB-9995-EED6-E5585CB712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13" t="34112" r="4371"/>
          <a:stretch>
            <a:fillRect/>
          </a:stretch>
        </p:blipFill>
        <p:spPr>
          <a:xfrm>
            <a:off x="7646772" y="1095211"/>
            <a:ext cx="4289855" cy="310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334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8A09E57C-BD91-45A4-836A-0086A210C3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11529C7-F7C2-4A52-83B6-110EAB97F0A6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ПРОДУКТ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D19883D-2B2F-4CDE-8011-8BF3AA6083D0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13919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Что пользователь получает за один run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2A96F199-F627-42B5-ACEB-D073D71375A0}"/>
              </a:ext>
            </a:extLst>
          </p:cNvPr>
          <p:cNvSpPr>
            <a:spLocks noGrp="1"/>
          </p:cNvSpPr>
          <p:nvPr/>
        </p:nvSpPr>
        <p:spPr>
          <a:xfrm>
            <a:off x="400050" y="1085850"/>
            <a:ext cx="11391900" cy="26670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66116AF-B8DE-4276-A763-9BC6E045CF09}"/>
              </a:ext>
            </a:extLst>
          </p:cNvPr>
          <p:cNvSpPr>
            <a:spLocks noGrp="1"/>
          </p:cNvSpPr>
          <p:nvPr/>
        </p:nvSpPr>
        <p:spPr>
          <a:xfrm>
            <a:off x="514350" y="1152525"/>
            <a:ext cx="111633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t>ЕСЛИ БЮДЖЕТ МЕНЯЕТСЯ ПОСЛЕ ПЕРВОГО ОТВЕТА, СИСТЕМА НЕ НАЧИНАЕТ ВСЁ ЗАНОВО</a:t>
            </a: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6D00C048-C9A6-48F6-B23B-232DD2042C57}"/>
              </a:ext>
            </a:extLst>
          </p:cNvPr>
          <p:cNvSpPr>
            <a:spLocks noGrp="1"/>
          </p:cNvSpPr>
          <p:nvPr/>
        </p:nvSpPr>
        <p:spPr>
          <a:xfrm>
            <a:off x="400050" y="1524000"/>
            <a:ext cx="3905250" cy="2514600"/>
          </a:xfrm>
          <a:prstGeom prst="roundRect">
            <a:avLst>
              <a:gd name="adj" fmla="val 9848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124B1ED7-0814-47C1-AD60-A9D6B67C1909}"/>
              </a:ext>
            </a:extLst>
          </p:cNvPr>
          <p:cNvSpPr>
            <a:spLocks noGrp="1"/>
          </p:cNvSpPr>
          <p:nvPr/>
        </p:nvSpPr>
        <p:spPr>
          <a:xfrm>
            <a:off x="590550" y="1695450"/>
            <a:ext cx="3524250" cy="2667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B6A9545-B556-4565-A788-EE201E368539}"/>
              </a:ext>
            </a:extLst>
          </p:cNvPr>
          <p:cNvSpPr>
            <a:spLocks noGrp="1"/>
          </p:cNvSpPr>
          <p:nvPr/>
        </p:nvSpPr>
        <p:spPr>
          <a:xfrm>
            <a:off x="704850" y="1762125"/>
            <a:ext cx="329565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SEARCH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5C16F5E-7E52-49E4-B145-E125388FD22C}"/>
              </a:ext>
            </a:extLst>
          </p:cNvPr>
          <p:cNvSpPr>
            <a:spLocks noGrp="1"/>
          </p:cNvSpPr>
          <p:nvPr/>
        </p:nvSpPr>
        <p:spPr>
          <a:xfrm>
            <a:off x="590550" y="2038350"/>
            <a:ext cx="35242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Подбор по кейсу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F6BA872-5BD5-4968-90B9-DF9A646AB1EF}"/>
              </a:ext>
            </a:extLst>
          </p:cNvPr>
          <p:cNvSpPr>
            <a:spLocks noGrp="1"/>
          </p:cNvSpPr>
          <p:nvPr/>
        </p:nvSpPr>
        <p:spPr>
          <a:xfrm>
            <a:off x="590550" y="2343150"/>
            <a:ext cx="3524250" cy="1524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Город, бюджет, дата въезда, состав домохозяйства, питомцы и время в пути.</a:t>
            </a: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2C3515A6-C36F-43BB-B2E2-F179053AC709}"/>
              </a:ext>
            </a:extLst>
          </p:cNvPr>
          <p:cNvSpPr>
            <a:spLocks noGrp="1"/>
          </p:cNvSpPr>
          <p:nvPr/>
        </p:nvSpPr>
        <p:spPr>
          <a:xfrm>
            <a:off x="4457700" y="1524000"/>
            <a:ext cx="3905250" cy="2514600"/>
          </a:xfrm>
          <a:prstGeom prst="roundRect">
            <a:avLst>
              <a:gd name="adj" fmla="val 9848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A15FC67B-853D-4387-A065-4D381ACE1FD7}"/>
              </a:ext>
            </a:extLst>
          </p:cNvPr>
          <p:cNvSpPr>
            <a:spLocks noGrp="1"/>
          </p:cNvSpPr>
          <p:nvPr/>
        </p:nvSpPr>
        <p:spPr>
          <a:xfrm>
            <a:off x="4648200" y="1695450"/>
            <a:ext cx="3524250" cy="266700"/>
          </a:xfrm>
          <a:prstGeom prst="roundRect">
            <a:avLst>
              <a:gd name="adj" fmla="val 50000"/>
            </a:avLst>
          </a:prstGeom>
          <a:solidFill>
            <a:srgbClr val="ECFEFF"/>
          </a:solidFill>
          <a:ln w="9525">
            <a:solidFill>
              <a:srgbClr val="ECFEFF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1B189D6-6BEA-47AF-BE7F-AF9C691F544D}"/>
              </a:ext>
            </a:extLst>
          </p:cNvPr>
          <p:cNvSpPr>
            <a:spLocks noGrp="1"/>
          </p:cNvSpPr>
          <p:nvPr/>
        </p:nvSpPr>
        <p:spPr>
          <a:xfrm>
            <a:off x="4762500" y="1762125"/>
            <a:ext cx="329565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t>EXPLAIN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014A993-B621-4A48-BA24-7E44178192F3}"/>
              </a:ext>
            </a:extLst>
          </p:cNvPr>
          <p:cNvSpPr>
            <a:spLocks noGrp="1"/>
          </p:cNvSpPr>
          <p:nvPr/>
        </p:nvSpPr>
        <p:spPr>
          <a:xfrm>
            <a:off x="4648200" y="2038350"/>
            <a:ext cx="35242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Объяснение выбора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0ABE573-1987-4054-B9BE-F2DA1726D791}"/>
              </a:ext>
            </a:extLst>
          </p:cNvPr>
          <p:cNvSpPr>
            <a:spLocks noGrp="1"/>
          </p:cNvSpPr>
          <p:nvPr/>
        </p:nvSpPr>
        <p:spPr>
          <a:xfrm>
            <a:off x="4648200" y="2343150"/>
            <a:ext cx="3524250" cy="1524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Показываем, почему вариант подходит, где компромиссы и какие стартовые расходы.</a:t>
            </a: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01EC0CE8-B188-48F0-9158-62C5543AF1F7}"/>
              </a:ext>
            </a:extLst>
          </p:cNvPr>
          <p:cNvSpPr>
            <a:spLocks noGrp="1"/>
          </p:cNvSpPr>
          <p:nvPr/>
        </p:nvSpPr>
        <p:spPr>
          <a:xfrm>
            <a:off x="400050" y="4038600"/>
            <a:ext cx="3905250" cy="2514600"/>
          </a:xfrm>
          <a:prstGeom prst="roundRect">
            <a:avLst>
              <a:gd name="adj" fmla="val 9848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4A03D555-77D3-4D22-8AEB-D194390F8C54}"/>
              </a:ext>
            </a:extLst>
          </p:cNvPr>
          <p:cNvSpPr>
            <a:spLocks noGrp="1"/>
          </p:cNvSpPr>
          <p:nvPr/>
        </p:nvSpPr>
        <p:spPr>
          <a:xfrm>
            <a:off x="590550" y="4210050"/>
            <a:ext cx="3524250" cy="26670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3D8F0B3-4DC3-46B0-AB88-B317C113AA68}"/>
              </a:ext>
            </a:extLst>
          </p:cNvPr>
          <p:cNvSpPr>
            <a:spLocks noGrp="1"/>
          </p:cNvSpPr>
          <p:nvPr/>
        </p:nvSpPr>
        <p:spPr>
          <a:xfrm>
            <a:off x="704850" y="4276725"/>
            <a:ext cx="329565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t>REPLAN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AB383DE-4C23-4EC7-85E1-E5AF847406BC}"/>
              </a:ext>
            </a:extLst>
          </p:cNvPr>
          <p:cNvSpPr>
            <a:spLocks noGrp="1"/>
          </p:cNvSpPr>
          <p:nvPr/>
        </p:nvSpPr>
        <p:spPr>
          <a:xfrm>
            <a:off x="590550" y="4552950"/>
            <a:ext cx="35242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Пересборка shortlist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9BEA9E2-DBA6-4E0C-8F99-DA118B8ACE40}"/>
              </a:ext>
            </a:extLst>
          </p:cNvPr>
          <p:cNvSpPr>
            <a:spLocks noGrp="1"/>
          </p:cNvSpPr>
          <p:nvPr/>
        </p:nvSpPr>
        <p:spPr>
          <a:xfrm>
            <a:off x="590550" y="4857750"/>
            <a:ext cx="3524250" cy="1524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При изменении бюджета, даты или города агент считает delta и обновляет решение.</a:t>
            </a:r>
          </a:p>
        </p:txBody>
      </p:sp>
      <p:sp>
        <p:nvSpPr>
          <p:cNvPr id="21" name="Скругленный прямоугольник 20">
            <a:extLst>
              <a:ext uri="{FF2B5EF4-FFF2-40B4-BE49-F238E27FC236}">
                <a16:creationId xmlns:a16="http://schemas.microsoft.com/office/drawing/2014/main" id="{60B0FFA5-96AC-4352-8BB7-5317B821FB3C}"/>
              </a:ext>
            </a:extLst>
          </p:cNvPr>
          <p:cNvSpPr>
            <a:spLocks noGrp="1"/>
          </p:cNvSpPr>
          <p:nvPr/>
        </p:nvSpPr>
        <p:spPr>
          <a:xfrm>
            <a:off x="4457700" y="4038600"/>
            <a:ext cx="3905250" cy="2514600"/>
          </a:xfrm>
          <a:prstGeom prst="roundRect">
            <a:avLst>
              <a:gd name="adj" fmla="val 9848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2" name="Скругленный прямоугольник 21">
            <a:extLst>
              <a:ext uri="{FF2B5EF4-FFF2-40B4-BE49-F238E27FC236}">
                <a16:creationId xmlns:a16="http://schemas.microsoft.com/office/drawing/2014/main" id="{11FAF7D4-1680-4E74-BDE5-56218D0837E1}"/>
              </a:ext>
            </a:extLst>
          </p:cNvPr>
          <p:cNvSpPr>
            <a:spLocks noGrp="1"/>
          </p:cNvSpPr>
          <p:nvPr/>
        </p:nvSpPr>
        <p:spPr>
          <a:xfrm>
            <a:off x="4648200" y="4210050"/>
            <a:ext cx="3524250" cy="266700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 w="9525">
            <a:solidFill>
              <a:srgbClr val="FEF2F2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42D60581-9F2C-4B06-8855-4B125CC58F89}"/>
              </a:ext>
            </a:extLst>
          </p:cNvPr>
          <p:cNvSpPr>
            <a:spLocks noGrp="1"/>
          </p:cNvSpPr>
          <p:nvPr/>
        </p:nvSpPr>
        <p:spPr>
          <a:xfrm>
            <a:off x="4762500" y="4276725"/>
            <a:ext cx="329565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t>ESCALATE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F1B139DE-24DF-4583-AA54-B3E142E371E9}"/>
              </a:ext>
            </a:extLst>
          </p:cNvPr>
          <p:cNvSpPr>
            <a:spLocks noGrp="1"/>
          </p:cNvSpPr>
          <p:nvPr/>
        </p:nvSpPr>
        <p:spPr>
          <a:xfrm>
            <a:off x="4648200" y="4552950"/>
            <a:ext cx="35242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Безопасная остановка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5C09123D-4FBE-424F-96E3-3396D5288F29}"/>
              </a:ext>
            </a:extLst>
          </p:cNvPr>
          <p:cNvSpPr>
            <a:spLocks noGrp="1"/>
          </p:cNvSpPr>
          <p:nvPr/>
        </p:nvSpPr>
        <p:spPr>
          <a:xfrm>
            <a:off x="4648200" y="4857750"/>
            <a:ext cx="3524250" cy="1524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Документные и квази-юридические кейсы идут в clarification или handoff.</a:t>
            </a:r>
          </a:p>
        </p:txBody>
      </p:sp>
      <p:sp>
        <p:nvSpPr>
          <p:cNvPr id="26" name="Скругленный прямоугольник 25">
            <a:extLst>
              <a:ext uri="{FF2B5EF4-FFF2-40B4-BE49-F238E27FC236}">
                <a16:creationId xmlns:a16="http://schemas.microsoft.com/office/drawing/2014/main" id="{3225C6DB-97C3-4C06-8B11-C0FF6FB7AAB4}"/>
              </a:ext>
            </a:extLst>
          </p:cNvPr>
          <p:cNvSpPr>
            <a:spLocks noGrp="1"/>
          </p:cNvSpPr>
          <p:nvPr/>
        </p:nvSpPr>
        <p:spPr>
          <a:xfrm>
            <a:off x="8553450" y="1524000"/>
            <a:ext cx="3238500" cy="5029200"/>
          </a:xfrm>
          <a:prstGeom prst="roundRect">
            <a:avLst>
              <a:gd name="adj" fmla="val 7647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3B7378D5-A387-44F2-86E1-D4D104E54DD6}"/>
              </a:ext>
            </a:extLst>
          </p:cNvPr>
          <p:cNvSpPr>
            <a:spLocks noGrp="1"/>
          </p:cNvSpPr>
          <p:nvPr/>
        </p:nvSpPr>
        <p:spPr>
          <a:xfrm>
            <a:off x="8743950" y="1695450"/>
            <a:ext cx="28575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Один запуск = один понятный результат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447D640E-7447-48B3-8D94-73314A3AFCFC}"/>
              </a:ext>
            </a:extLst>
          </p:cNvPr>
          <p:cNvSpPr>
            <a:spLocks noGrp="1"/>
          </p:cNvSpPr>
          <p:nvPr/>
        </p:nvSpPr>
        <p:spPr>
          <a:xfrm>
            <a:off x="8743950" y="2199749"/>
            <a:ext cx="28575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</a:t>
            </a:r>
            <a:r>
              <a:rPr dirty="0" err="1"/>
              <a:t>вход</a:t>
            </a:r>
            <a:r>
              <a:rPr dirty="0"/>
              <a:t>: </a:t>
            </a:r>
            <a:r>
              <a:rPr dirty="0" err="1"/>
              <a:t>сообщение</a:t>
            </a:r>
            <a:r>
              <a:rPr dirty="0"/>
              <a:t> </a:t>
            </a:r>
            <a:r>
              <a:rPr dirty="0" err="1"/>
              <a:t>пользователя</a:t>
            </a:r>
            <a:r>
              <a:rPr dirty="0"/>
              <a:t> + </a:t>
            </a:r>
            <a:r>
              <a:rPr dirty="0" err="1"/>
              <a:t>профиль</a:t>
            </a:r>
            <a:r>
              <a:rPr dirty="0"/>
              <a:t> </a:t>
            </a:r>
            <a:r>
              <a:rPr dirty="0" err="1"/>
              <a:t>кейса</a:t>
            </a:r>
            <a:endParaRPr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BDB22C62-EE00-4A52-BB37-833291E12123}"/>
              </a:ext>
            </a:extLst>
          </p:cNvPr>
          <p:cNvSpPr>
            <a:spLocks noGrp="1"/>
          </p:cNvSpPr>
          <p:nvPr/>
        </p:nvSpPr>
        <p:spPr>
          <a:xfrm>
            <a:off x="8743950" y="2571750"/>
            <a:ext cx="28575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</a:t>
            </a:r>
            <a:r>
              <a:rPr dirty="0" err="1"/>
              <a:t>процесс</a:t>
            </a:r>
            <a:r>
              <a:rPr dirty="0"/>
              <a:t>: search -&gt; score -&gt; verify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80A73FB-F570-4DED-9AA6-93936133467E}"/>
              </a:ext>
            </a:extLst>
          </p:cNvPr>
          <p:cNvSpPr>
            <a:spLocks noGrp="1"/>
          </p:cNvSpPr>
          <p:nvPr/>
        </p:nvSpPr>
        <p:spPr>
          <a:xfrm>
            <a:off x="8743950" y="2771249"/>
            <a:ext cx="28575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</a:t>
            </a:r>
            <a:r>
              <a:rPr dirty="0" err="1"/>
              <a:t>выход</a:t>
            </a:r>
            <a:r>
              <a:rPr dirty="0"/>
              <a:t>: shortlist + </a:t>
            </a:r>
            <a:r>
              <a:rPr dirty="0" err="1"/>
              <a:t>объяснение</a:t>
            </a:r>
            <a:r>
              <a:rPr dirty="0"/>
              <a:t> + </a:t>
            </a:r>
            <a:r>
              <a:rPr dirty="0" err="1"/>
              <a:t>предупреждения</a:t>
            </a:r>
            <a:endParaRPr dirty="0"/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32B419E2-1E67-46CB-B2BC-5BCCA7C36A84}"/>
              </a:ext>
            </a:extLst>
          </p:cNvPr>
          <p:cNvSpPr>
            <a:spLocks noGrp="1"/>
          </p:cNvSpPr>
          <p:nvPr/>
        </p:nvSpPr>
        <p:spPr>
          <a:xfrm>
            <a:off x="8743950" y="3138224"/>
            <a:ext cx="28575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follow-up: </a:t>
            </a:r>
            <a:r>
              <a:rPr dirty="0" err="1"/>
              <a:t>пересчёт</a:t>
            </a:r>
            <a:r>
              <a:rPr dirty="0"/>
              <a:t> </a:t>
            </a:r>
            <a:r>
              <a:rPr dirty="0" err="1"/>
              <a:t>относительно</a:t>
            </a:r>
            <a:r>
              <a:rPr dirty="0"/>
              <a:t> </a:t>
            </a:r>
            <a:r>
              <a:rPr dirty="0" err="1"/>
              <a:t>прошлого</a:t>
            </a:r>
            <a:r>
              <a:rPr dirty="0"/>
              <a:t> run</a:t>
            </a:r>
          </a:p>
        </p:txBody>
      </p:sp>
      <p:sp>
        <p:nvSpPr>
          <p:cNvPr id="32" name="Скругленный прямоугольник 31">
            <a:extLst>
              <a:ext uri="{FF2B5EF4-FFF2-40B4-BE49-F238E27FC236}">
                <a16:creationId xmlns:a16="http://schemas.microsoft.com/office/drawing/2014/main" id="{35A9CCCA-4DE7-4AED-AF03-1ABFFC299034}"/>
              </a:ext>
            </a:extLst>
          </p:cNvPr>
          <p:cNvSpPr>
            <a:spLocks noGrp="1"/>
          </p:cNvSpPr>
          <p:nvPr/>
        </p:nvSpPr>
        <p:spPr>
          <a:xfrm>
            <a:off x="8743950" y="4857750"/>
            <a:ext cx="1371600" cy="1066800"/>
          </a:xfrm>
          <a:prstGeom prst="roundRect">
            <a:avLst>
              <a:gd name="adj" fmla="val 23214"/>
            </a:avLst>
          </a:prstGeom>
          <a:solidFill>
            <a:srgbClr val="EFF6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86B309D1-43A9-45AC-B85D-31C04958023C}"/>
              </a:ext>
            </a:extLst>
          </p:cNvPr>
          <p:cNvSpPr>
            <a:spLocks noGrp="1"/>
          </p:cNvSpPr>
          <p:nvPr/>
        </p:nvSpPr>
        <p:spPr>
          <a:xfrm>
            <a:off x="8934450" y="5029200"/>
            <a:ext cx="9906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top-3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B0AB7C39-C9C4-426A-87C6-310839AB6A84}"/>
              </a:ext>
            </a:extLst>
          </p:cNvPr>
          <p:cNvSpPr>
            <a:spLocks noGrp="1"/>
          </p:cNvSpPr>
          <p:nvPr/>
        </p:nvSpPr>
        <p:spPr>
          <a:xfrm>
            <a:off x="8934450" y="5429250"/>
            <a:ext cx="9906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 err="1"/>
              <a:t>варианта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экране</a:t>
            </a:r>
            <a:endParaRPr dirty="0"/>
          </a:p>
        </p:txBody>
      </p:sp>
      <p:sp>
        <p:nvSpPr>
          <p:cNvPr id="35" name="Скругленный прямоугольник 34">
            <a:extLst>
              <a:ext uri="{FF2B5EF4-FFF2-40B4-BE49-F238E27FC236}">
                <a16:creationId xmlns:a16="http://schemas.microsoft.com/office/drawing/2014/main" id="{B6DEFA3F-E0FC-4624-A8EC-1FC8825F42F7}"/>
              </a:ext>
            </a:extLst>
          </p:cNvPr>
          <p:cNvSpPr>
            <a:spLocks noGrp="1"/>
          </p:cNvSpPr>
          <p:nvPr/>
        </p:nvSpPr>
        <p:spPr>
          <a:xfrm>
            <a:off x="10229850" y="4857750"/>
            <a:ext cx="1371600" cy="1066800"/>
          </a:xfrm>
          <a:prstGeom prst="roundRect">
            <a:avLst>
              <a:gd name="adj" fmla="val 23214"/>
            </a:avLst>
          </a:prstGeom>
          <a:solidFill>
            <a:srgbClr val="ECFE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D3F095B4-754E-4B34-8BED-6BE71F2ADCF2}"/>
              </a:ext>
            </a:extLst>
          </p:cNvPr>
          <p:cNvSpPr>
            <a:spLocks noGrp="1"/>
          </p:cNvSpPr>
          <p:nvPr/>
        </p:nvSpPr>
        <p:spPr>
          <a:xfrm>
            <a:off x="10420350" y="5029200"/>
            <a:ext cx="9906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safe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0ECBCC01-E09D-4F09-8A63-2E917D07F59A}"/>
              </a:ext>
            </a:extLst>
          </p:cNvPr>
          <p:cNvSpPr>
            <a:spLocks noGrp="1"/>
          </p:cNvSpPr>
          <p:nvPr/>
        </p:nvSpPr>
        <p:spPr>
          <a:xfrm>
            <a:off x="10420350" y="5429250"/>
            <a:ext cx="9906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guardrails в пайплайне</a:t>
            </a:r>
          </a:p>
        </p:txBody>
      </p:sp>
    </p:spTree>
    <p:extLst>
      <p:ext uri="{BB962C8B-B14F-4D97-AF65-F5344CB8AC3E}">
        <p14:creationId xmlns:p14="http://schemas.microsoft.com/office/powerpoint/2010/main" val="556054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FB06466-F8B6-459E-AE2A-5BEE07C192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B8BC919-E662-49CF-8335-D41EE8FEF542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WORKFLOW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47D400E-EBEA-4810-83F4-40EF9EB318E2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13919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Как агент принимает решение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44E54C59-26E2-4347-ACD4-39D80C1F5275}"/>
              </a:ext>
            </a:extLst>
          </p:cNvPr>
          <p:cNvSpPr>
            <a:spLocks noGrp="1"/>
          </p:cNvSpPr>
          <p:nvPr/>
        </p:nvSpPr>
        <p:spPr>
          <a:xfrm>
            <a:off x="400050" y="1085850"/>
            <a:ext cx="7239000" cy="5467350"/>
          </a:xfrm>
          <a:prstGeom prst="roundRect">
            <a:avLst>
              <a:gd name="adj" fmla="val 4530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33400" y="1644612"/>
            <a:ext cx="6972300" cy="2159075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7CEA43E-8761-46F6-81AA-B7B56BAE6ABF}"/>
              </a:ext>
            </a:extLst>
          </p:cNvPr>
          <p:cNvSpPr>
            <a:spLocks noGrp="1"/>
          </p:cNvSpPr>
          <p:nvPr/>
        </p:nvSpPr>
        <p:spPr>
          <a:xfrm>
            <a:off x="533400" y="4324350"/>
            <a:ext cx="6972300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Функциональный flow: запрос -&gt; поиск вариантов -&gt; ранжирование -&gt; проверка ограничений -&gt; ответ.</a:t>
            </a: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1170C429-2A13-4D6D-922E-470AF0086105}"/>
              </a:ext>
            </a:extLst>
          </p:cNvPr>
          <p:cNvSpPr>
            <a:spLocks noGrp="1"/>
          </p:cNvSpPr>
          <p:nvPr/>
        </p:nvSpPr>
        <p:spPr>
          <a:xfrm>
            <a:off x="7829550" y="1085850"/>
            <a:ext cx="3962400" cy="9525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84B94A5-162C-41B4-AD2D-89471C9E2531}"/>
              </a:ext>
            </a:extLst>
          </p:cNvPr>
          <p:cNvSpPr>
            <a:spLocks noGrp="1"/>
          </p:cNvSpPr>
          <p:nvPr/>
        </p:nvSpPr>
        <p:spPr>
          <a:xfrm>
            <a:off x="7962900" y="1181100"/>
            <a:ext cx="3695700" cy="2667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5F8D5C3-345A-4FFA-875F-5C4A9C41E61D}"/>
              </a:ext>
            </a:extLst>
          </p:cNvPr>
          <p:cNvSpPr>
            <a:spLocks noGrp="1"/>
          </p:cNvSpPr>
          <p:nvPr/>
        </p:nvSpPr>
        <p:spPr>
          <a:xfrm>
            <a:off x="8077200" y="1247775"/>
            <a:ext cx="34671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INSTA MEMORY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885E451-DC3A-413B-AF56-3F000A6A13DE}"/>
              </a:ext>
            </a:extLst>
          </p:cNvPr>
          <p:cNvSpPr>
            <a:spLocks noGrp="1"/>
          </p:cNvSpPr>
          <p:nvPr/>
        </p:nvSpPr>
        <p:spPr>
          <a:xfrm>
            <a:off x="7962900" y="1485900"/>
            <a:ext cx="36957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dirty="0" err="1"/>
              <a:t>После</a:t>
            </a:r>
            <a:r>
              <a:rPr dirty="0"/>
              <a:t> </a:t>
            </a:r>
            <a:r>
              <a:rPr lang="ru-RU" dirty="0"/>
              <a:t>прогона </a:t>
            </a:r>
            <a:r>
              <a:rPr dirty="0" err="1"/>
              <a:t>агент</a:t>
            </a:r>
            <a:r>
              <a:rPr dirty="0"/>
              <a:t> </a:t>
            </a:r>
            <a:r>
              <a:rPr dirty="0" err="1"/>
              <a:t>помнит</a:t>
            </a:r>
            <a:r>
              <a:rPr dirty="0"/>
              <a:t> </a:t>
            </a:r>
            <a:r>
              <a:rPr dirty="0" err="1"/>
              <a:t>состояние</a:t>
            </a:r>
            <a:r>
              <a:rPr dirty="0"/>
              <a:t> </a:t>
            </a:r>
            <a:r>
              <a:rPr dirty="0" err="1"/>
              <a:t>кейс</a:t>
            </a:r>
            <a:r>
              <a:rPr lang="ru-RU" dirty="0"/>
              <a:t>а</a:t>
            </a:r>
            <a:endParaRPr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FF5BF93-A83A-4B54-AD8C-481428B30369}"/>
              </a:ext>
            </a:extLst>
          </p:cNvPr>
          <p:cNvSpPr>
            <a:spLocks noGrp="1"/>
          </p:cNvSpPr>
          <p:nvPr/>
        </p:nvSpPr>
        <p:spPr>
          <a:xfrm>
            <a:off x="7962900" y="1847850"/>
            <a:ext cx="36957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last_state, прошлый shortlist и case memory</a:t>
            </a: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6ADA6925-E028-43EC-A6A5-18A18331732D}"/>
              </a:ext>
            </a:extLst>
          </p:cNvPr>
          <p:cNvSpPr>
            <a:spLocks noGrp="1"/>
          </p:cNvSpPr>
          <p:nvPr/>
        </p:nvSpPr>
        <p:spPr>
          <a:xfrm>
            <a:off x="7829550" y="2152650"/>
            <a:ext cx="3962400" cy="1200150"/>
          </a:xfrm>
          <a:prstGeom prst="roundRect">
            <a:avLst>
              <a:gd name="adj" fmla="val 20635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7E16ABFB-4F36-42BF-8E77-2A2AD0D9C2BE}"/>
              </a:ext>
            </a:extLst>
          </p:cNvPr>
          <p:cNvSpPr>
            <a:spLocks noGrp="1"/>
          </p:cNvSpPr>
          <p:nvPr/>
        </p:nvSpPr>
        <p:spPr>
          <a:xfrm>
            <a:off x="7962900" y="2247900"/>
            <a:ext cx="3695700" cy="266700"/>
          </a:xfrm>
          <a:prstGeom prst="roundRect">
            <a:avLst>
              <a:gd name="adj" fmla="val 50000"/>
            </a:avLst>
          </a:prstGeom>
          <a:solidFill>
            <a:srgbClr val="ECFEFF"/>
          </a:solidFill>
          <a:ln w="9525">
            <a:solidFill>
              <a:srgbClr val="ECFEFF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4C25B7D-3577-4A45-BA85-628521954FEC}"/>
              </a:ext>
            </a:extLst>
          </p:cNvPr>
          <p:cNvSpPr>
            <a:spLocks noGrp="1"/>
          </p:cNvSpPr>
          <p:nvPr/>
        </p:nvSpPr>
        <p:spPr>
          <a:xfrm>
            <a:off x="8077200" y="2314575"/>
            <a:ext cx="34671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t>TOOLS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F626407-CD56-4FDB-8DED-2AE117276F79}"/>
              </a:ext>
            </a:extLst>
          </p:cNvPr>
          <p:cNvSpPr>
            <a:spLocks noGrp="1"/>
          </p:cNvSpPr>
          <p:nvPr/>
        </p:nvSpPr>
        <p:spPr>
          <a:xfrm>
            <a:off x="7962900" y="2552700"/>
            <a:ext cx="36957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dirty="0"/>
              <a:t>Tool layer </a:t>
            </a:r>
            <a:r>
              <a:rPr dirty="0" err="1"/>
              <a:t>детерминирован</a:t>
            </a:r>
            <a:endParaRPr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67C8FDA4-C9F5-4EDF-9043-CD6620093B54}"/>
              </a:ext>
            </a:extLst>
          </p:cNvPr>
          <p:cNvSpPr>
            <a:spLocks noGrp="1"/>
          </p:cNvSpPr>
          <p:nvPr/>
        </p:nvSpPr>
        <p:spPr>
          <a:xfrm>
            <a:off x="7962900" y="2876550"/>
            <a:ext cx="1181100" cy="28575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14F1DD8-CBA1-47CE-8720-4D80C78BC944}"/>
              </a:ext>
            </a:extLst>
          </p:cNvPr>
          <p:cNvSpPr>
            <a:spLocks noGrp="1"/>
          </p:cNvSpPr>
          <p:nvPr/>
        </p:nvSpPr>
        <p:spPr>
          <a:xfrm>
            <a:off x="8077200" y="2943225"/>
            <a:ext cx="9525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RAG</a:t>
            </a: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2D9B9CAD-83AF-49F3-85C2-A100E7944A1C}"/>
              </a:ext>
            </a:extLst>
          </p:cNvPr>
          <p:cNvSpPr>
            <a:spLocks noGrp="1"/>
          </p:cNvSpPr>
          <p:nvPr/>
        </p:nvSpPr>
        <p:spPr>
          <a:xfrm>
            <a:off x="9220200" y="2876550"/>
            <a:ext cx="1181100" cy="285750"/>
          </a:xfrm>
          <a:prstGeom prst="roundRect">
            <a:avLst>
              <a:gd name="adj" fmla="val 50000"/>
            </a:avLst>
          </a:prstGeom>
          <a:solidFill>
            <a:srgbClr val="ECFEFF"/>
          </a:solidFill>
          <a:ln w="9525">
            <a:solidFill>
              <a:srgbClr val="ECFEFF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E31ABE92-5F2A-4836-8858-ADA1E9A3682D}"/>
              </a:ext>
            </a:extLst>
          </p:cNvPr>
          <p:cNvSpPr>
            <a:spLocks noGrp="1"/>
          </p:cNvSpPr>
          <p:nvPr/>
        </p:nvSpPr>
        <p:spPr>
          <a:xfrm>
            <a:off x="9334500" y="2943225"/>
            <a:ext cx="9525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t>БД</a:t>
            </a:r>
          </a:p>
        </p:txBody>
      </p:sp>
      <p:sp>
        <p:nvSpPr>
          <p:cNvPr id="20" name="Скругленный прямоугольник 19">
            <a:extLst>
              <a:ext uri="{FF2B5EF4-FFF2-40B4-BE49-F238E27FC236}">
                <a16:creationId xmlns:a16="http://schemas.microsoft.com/office/drawing/2014/main" id="{7BE379BF-7EC2-4F35-914D-6CDCAE96A368}"/>
              </a:ext>
            </a:extLst>
          </p:cNvPr>
          <p:cNvSpPr>
            <a:spLocks noGrp="1"/>
          </p:cNvSpPr>
          <p:nvPr/>
        </p:nvSpPr>
        <p:spPr>
          <a:xfrm>
            <a:off x="10477500" y="2876550"/>
            <a:ext cx="1181100" cy="28575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A1AA25B-062C-460B-B55D-056F75B5A87F}"/>
              </a:ext>
            </a:extLst>
          </p:cNvPr>
          <p:cNvSpPr>
            <a:spLocks noGrp="1"/>
          </p:cNvSpPr>
          <p:nvPr/>
        </p:nvSpPr>
        <p:spPr>
          <a:xfrm>
            <a:off x="10591800" y="2943225"/>
            <a:ext cx="9525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t>MCP</a:t>
            </a: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DABA12EF-3772-4F25-AE99-2C67AB8BC0CD}"/>
              </a:ext>
            </a:extLst>
          </p:cNvPr>
          <p:cNvSpPr>
            <a:spLocks noGrp="1"/>
          </p:cNvSpPr>
          <p:nvPr/>
        </p:nvSpPr>
        <p:spPr>
          <a:xfrm>
            <a:off x="7829550" y="3467100"/>
            <a:ext cx="3962400" cy="1257300"/>
          </a:xfrm>
          <a:prstGeom prst="roundRect">
            <a:avLst>
              <a:gd name="adj" fmla="val 19697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5A9CF41A-A77F-440C-A0C0-6B6F151D3161}"/>
              </a:ext>
            </a:extLst>
          </p:cNvPr>
          <p:cNvSpPr>
            <a:spLocks noGrp="1"/>
          </p:cNvSpPr>
          <p:nvPr/>
        </p:nvSpPr>
        <p:spPr>
          <a:xfrm>
            <a:off x="7962900" y="3562350"/>
            <a:ext cx="3695700" cy="26670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FB6317EA-7296-4A26-90E7-1E42D082A1E9}"/>
              </a:ext>
            </a:extLst>
          </p:cNvPr>
          <p:cNvSpPr>
            <a:spLocks noGrp="1"/>
          </p:cNvSpPr>
          <p:nvPr/>
        </p:nvSpPr>
        <p:spPr>
          <a:xfrm>
            <a:off x="8077200" y="3629025"/>
            <a:ext cx="34671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t>ЗАЧЕМ ТАК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C39F9006-46A4-41AF-8F58-C7467DA50F9B}"/>
              </a:ext>
            </a:extLst>
          </p:cNvPr>
          <p:cNvSpPr>
            <a:spLocks noGrp="1"/>
          </p:cNvSpPr>
          <p:nvPr/>
        </p:nvSpPr>
        <p:spPr>
          <a:xfrm>
            <a:off x="7962900" y="3867150"/>
            <a:ext cx="3695700" cy="4000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dirty="0"/>
              <a:t>LLM </a:t>
            </a:r>
            <a:r>
              <a:rPr dirty="0" err="1"/>
              <a:t>включаем</a:t>
            </a:r>
            <a:r>
              <a:rPr dirty="0"/>
              <a:t> </a:t>
            </a:r>
            <a:r>
              <a:rPr dirty="0" err="1"/>
              <a:t>только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недетерминированных</a:t>
            </a:r>
            <a:r>
              <a:rPr dirty="0"/>
              <a:t> </a:t>
            </a:r>
            <a:r>
              <a:rPr dirty="0" err="1"/>
              <a:t>шагов</a:t>
            </a:r>
            <a:endParaRPr dirty="0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E4EF52C1-D9D9-4359-9A9F-1812647CE211}"/>
              </a:ext>
            </a:extLst>
          </p:cNvPr>
          <p:cNvSpPr>
            <a:spLocks noGrp="1"/>
          </p:cNvSpPr>
          <p:nvPr/>
        </p:nvSpPr>
        <p:spPr>
          <a:xfrm>
            <a:off x="7962900" y="4305300"/>
            <a:ext cx="36957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router, intake, </a:t>
            </a:r>
            <a:r>
              <a:rPr dirty="0" err="1"/>
              <a:t>replanner</a:t>
            </a:r>
            <a:r>
              <a:rPr dirty="0"/>
              <a:t>, final composer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ED77C871-6668-4955-98F2-525938DF12A8}"/>
              </a:ext>
            </a:extLst>
          </p:cNvPr>
          <p:cNvSpPr>
            <a:spLocks noGrp="1"/>
          </p:cNvSpPr>
          <p:nvPr/>
        </p:nvSpPr>
        <p:spPr>
          <a:xfrm>
            <a:off x="7962900" y="4533900"/>
            <a:ext cx="36957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поиск, ранжирование и проверки - в коде</a:t>
            </a:r>
          </a:p>
        </p:txBody>
      </p:sp>
    </p:spTree>
    <p:extLst>
      <p:ext uri="{BB962C8B-B14F-4D97-AF65-F5344CB8AC3E}">
        <p14:creationId xmlns:p14="http://schemas.microsoft.com/office/powerpoint/2010/main" val="183301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08E4924-1C8A-45ED-BC23-A0FBC046559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21ABC5C-9163-42F1-89ED-A35159D7E9F3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OPERATING MODEL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0763AE8-6C58-4FB5-80F0-24D2286F078D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13919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Production operating model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BCCF5E4C-4EF5-4227-8451-198CBA3C54E1}"/>
              </a:ext>
            </a:extLst>
          </p:cNvPr>
          <p:cNvSpPr>
            <a:spLocks noGrp="1"/>
          </p:cNvSpPr>
          <p:nvPr/>
        </p:nvSpPr>
        <p:spPr>
          <a:xfrm>
            <a:off x="400050" y="1085850"/>
            <a:ext cx="7239000" cy="5467350"/>
          </a:xfrm>
          <a:prstGeom prst="roundRect">
            <a:avLst>
              <a:gd name="adj" fmla="val 4530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686357" y="1181100"/>
            <a:ext cx="4666386" cy="373380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E198AC7-B1B4-40F9-BC4F-E08C494FD92C}"/>
              </a:ext>
            </a:extLst>
          </p:cNvPr>
          <p:cNvSpPr>
            <a:spLocks noGrp="1"/>
          </p:cNvSpPr>
          <p:nvPr/>
        </p:nvSpPr>
        <p:spPr>
          <a:xfrm>
            <a:off x="514350" y="4991100"/>
            <a:ext cx="7010400" cy="1447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Схема заземляет архитектуру; справа показано, что уже есть в прототипе и что нужно для боевого контура.</a:t>
            </a: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44D04EE5-2A3F-424A-86FA-B7C6FF416BEF}"/>
              </a:ext>
            </a:extLst>
          </p:cNvPr>
          <p:cNvSpPr>
            <a:spLocks noGrp="1"/>
          </p:cNvSpPr>
          <p:nvPr/>
        </p:nvSpPr>
        <p:spPr>
          <a:xfrm>
            <a:off x="7829550" y="1085850"/>
            <a:ext cx="3962400" cy="158115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E7FD39F0-A1A6-456F-A99A-F2E11FF885E9}"/>
              </a:ext>
            </a:extLst>
          </p:cNvPr>
          <p:cNvSpPr>
            <a:spLocks noGrp="1"/>
          </p:cNvSpPr>
          <p:nvPr/>
        </p:nvSpPr>
        <p:spPr>
          <a:xfrm>
            <a:off x="8020050" y="1257300"/>
            <a:ext cx="3581400" cy="2667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529E291-B694-4706-BB85-B29C4D3C9E1F}"/>
              </a:ext>
            </a:extLst>
          </p:cNvPr>
          <p:cNvSpPr>
            <a:spLocks noGrp="1"/>
          </p:cNvSpPr>
          <p:nvPr/>
        </p:nvSpPr>
        <p:spPr>
          <a:xfrm>
            <a:off x="8134350" y="1323975"/>
            <a:ext cx="33528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FRESHNESS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5E003CB-28E3-491B-9F8E-69EA8E62ECE2}"/>
              </a:ext>
            </a:extLst>
          </p:cNvPr>
          <p:cNvSpPr>
            <a:spLocks noGrp="1"/>
          </p:cNvSpPr>
          <p:nvPr/>
        </p:nvSpPr>
        <p:spPr>
          <a:xfrm>
            <a:off x="8020050" y="1600200"/>
            <a:ext cx="3581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dirty="0"/>
              <a:t>Для </a:t>
            </a:r>
            <a:r>
              <a:rPr dirty="0" err="1"/>
              <a:t>данных</a:t>
            </a:r>
            <a:r>
              <a:rPr dirty="0"/>
              <a:t> </a:t>
            </a:r>
            <a:r>
              <a:rPr dirty="0" err="1"/>
              <a:t>есть</a:t>
            </a:r>
            <a:r>
              <a:rPr dirty="0"/>
              <a:t> </a:t>
            </a:r>
            <a:r>
              <a:rPr dirty="0" err="1"/>
              <a:t>явный</a:t>
            </a:r>
            <a:r>
              <a:rPr dirty="0"/>
              <a:t> operating contract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665CA55B-7965-4891-B04B-B0284B0AC314}"/>
              </a:ext>
            </a:extLst>
          </p:cNvPr>
          <p:cNvSpPr>
            <a:spLocks noGrp="1"/>
          </p:cNvSpPr>
          <p:nvPr/>
        </p:nvSpPr>
        <p:spPr>
          <a:xfrm>
            <a:off x="8020050" y="1905000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локальный каталог обновляется refresh job по trigger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BA3254B6-9207-4DE4-BCC2-71690981D427}"/>
              </a:ext>
            </a:extLst>
          </p:cNvPr>
          <p:cNvSpPr>
            <a:spLocks noGrp="1"/>
          </p:cNvSpPr>
          <p:nvPr/>
        </p:nvSpPr>
        <p:spPr>
          <a:xfrm>
            <a:off x="8020050" y="2190750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после 24 часов показываем staleness warning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CB76854-5946-46EF-857C-1726DC93F5C4}"/>
              </a:ext>
            </a:extLst>
          </p:cNvPr>
          <p:cNvSpPr>
            <a:spLocks noGrp="1"/>
          </p:cNvSpPr>
          <p:nvPr/>
        </p:nvSpPr>
        <p:spPr>
          <a:xfrm>
            <a:off x="8020050" y="2476500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policy corpus пересматривается по weekly cadence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74A8772A-11BE-4C7D-BDE7-1CB336B0C9EC}"/>
              </a:ext>
            </a:extLst>
          </p:cNvPr>
          <p:cNvSpPr>
            <a:spLocks noGrp="1"/>
          </p:cNvSpPr>
          <p:nvPr/>
        </p:nvSpPr>
        <p:spPr>
          <a:xfrm>
            <a:off x="7829550" y="2724150"/>
            <a:ext cx="3962400" cy="1600200"/>
          </a:xfrm>
          <a:prstGeom prst="roundRect">
            <a:avLst>
              <a:gd name="adj" fmla="val 15476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479BB840-5391-42D2-A90F-27F29E4A9C48}"/>
              </a:ext>
            </a:extLst>
          </p:cNvPr>
          <p:cNvSpPr>
            <a:spLocks noGrp="1"/>
          </p:cNvSpPr>
          <p:nvPr/>
        </p:nvSpPr>
        <p:spPr>
          <a:xfrm>
            <a:off x="8020050" y="2895600"/>
            <a:ext cx="3581400" cy="26670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8C5157E-FC15-4F1A-9990-63348D0CB6F5}"/>
              </a:ext>
            </a:extLst>
          </p:cNvPr>
          <p:cNvSpPr>
            <a:spLocks noGrp="1"/>
          </p:cNvSpPr>
          <p:nvPr/>
        </p:nvSpPr>
        <p:spPr>
          <a:xfrm>
            <a:off x="8134350" y="2962275"/>
            <a:ext cx="33528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t>УЖЕ ЕСТЬ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F4A6495-ABC4-420E-8A24-8C1FC797D06C}"/>
              </a:ext>
            </a:extLst>
          </p:cNvPr>
          <p:cNvSpPr>
            <a:spLocks noGrp="1"/>
          </p:cNvSpPr>
          <p:nvPr/>
        </p:nvSpPr>
        <p:spPr>
          <a:xfrm>
            <a:off x="8020050" y="3238500"/>
            <a:ext cx="3581400" cy="4572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dirty="0"/>
              <a:t>Что </a:t>
            </a:r>
            <a:r>
              <a:rPr dirty="0" err="1"/>
              <a:t>реально</a:t>
            </a:r>
            <a:r>
              <a:rPr dirty="0"/>
              <a:t> </a:t>
            </a:r>
            <a:r>
              <a:rPr dirty="0" err="1"/>
              <a:t>реализовано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</a:t>
            </a:r>
            <a:r>
              <a:rPr dirty="0" err="1"/>
              <a:t>прототипе</a:t>
            </a:r>
            <a:endParaRPr dirty="0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6E250BCE-07B2-4BB8-804D-9A0DB1059E8A}"/>
              </a:ext>
            </a:extLst>
          </p:cNvPr>
          <p:cNvSpPr>
            <a:spLocks noGrp="1"/>
          </p:cNvSpPr>
          <p:nvPr/>
        </p:nvSpPr>
        <p:spPr>
          <a:xfrm>
            <a:off x="8020050" y="3552825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persistent memory </a:t>
            </a:r>
            <a:r>
              <a:rPr dirty="0" err="1"/>
              <a:t>в</a:t>
            </a:r>
            <a:r>
              <a:rPr dirty="0"/>
              <a:t> SQLite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11C3EEF-0353-45FD-9390-E56DED9DC554}"/>
              </a:ext>
            </a:extLst>
          </p:cNvPr>
          <p:cNvSpPr>
            <a:spLocks noGrp="1"/>
          </p:cNvSpPr>
          <p:nvPr/>
        </p:nvSpPr>
        <p:spPr>
          <a:xfrm>
            <a:off x="8020050" y="3838575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write-back в профиль кейса</a:t>
            </a:r>
          </a:p>
        </p:txBody>
      </p:sp>
      <p:sp>
        <p:nvSpPr>
          <p:cNvPr id="21" name="Скругленный прямоугольник 20">
            <a:extLst>
              <a:ext uri="{FF2B5EF4-FFF2-40B4-BE49-F238E27FC236}">
                <a16:creationId xmlns:a16="http://schemas.microsoft.com/office/drawing/2014/main" id="{EA83882E-6CCA-4793-8FEE-565B15778C29}"/>
              </a:ext>
            </a:extLst>
          </p:cNvPr>
          <p:cNvSpPr>
            <a:spLocks noGrp="1"/>
          </p:cNvSpPr>
          <p:nvPr/>
        </p:nvSpPr>
        <p:spPr>
          <a:xfrm>
            <a:off x="7829550" y="4476750"/>
            <a:ext cx="3962400" cy="2076450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2" name="Скругленный прямоугольник 21">
            <a:extLst>
              <a:ext uri="{FF2B5EF4-FFF2-40B4-BE49-F238E27FC236}">
                <a16:creationId xmlns:a16="http://schemas.microsoft.com/office/drawing/2014/main" id="{4CAB14B4-0CE8-4C4D-83CF-5FF23A0BFC14}"/>
              </a:ext>
            </a:extLst>
          </p:cNvPr>
          <p:cNvSpPr>
            <a:spLocks noGrp="1"/>
          </p:cNvSpPr>
          <p:nvPr/>
        </p:nvSpPr>
        <p:spPr>
          <a:xfrm>
            <a:off x="8020050" y="4648200"/>
            <a:ext cx="3581400" cy="266700"/>
          </a:xfrm>
          <a:prstGeom prst="roundRect">
            <a:avLst>
              <a:gd name="adj" fmla="val 50000"/>
            </a:avLst>
          </a:prstGeom>
          <a:solidFill>
            <a:srgbClr val="ECFEFF"/>
          </a:solidFill>
          <a:ln w="9525">
            <a:solidFill>
              <a:srgbClr val="ECFEFF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70AD13CB-6EE9-4673-9CC4-33C5A2697327}"/>
              </a:ext>
            </a:extLst>
          </p:cNvPr>
          <p:cNvSpPr>
            <a:spLocks noGrp="1"/>
          </p:cNvSpPr>
          <p:nvPr/>
        </p:nvSpPr>
        <p:spPr>
          <a:xfrm>
            <a:off x="8134350" y="4714875"/>
            <a:ext cx="33528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t>OBSERVABILITY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B501EFDB-2A0F-4A96-B116-D152816BEC83}"/>
              </a:ext>
            </a:extLst>
          </p:cNvPr>
          <p:cNvSpPr>
            <a:spLocks noGrp="1"/>
          </p:cNvSpPr>
          <p:nvPr/>
        </p:nvSpPr>
        <p:spPr>
          <a:xfrm>
            <a:off x="8020050" y="4991100"/>
            <a:ext cx="3581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dirty="0"/>
              <a:t>Ключевые </a:t>
            </a:r>
            <a:r>
              <a:rPr dirty="0" err="1"/>
              <a:t>сигналы</a:t>
            </a:r>
            <a:r>
              <a:rPr dirty="0"/>
              <a:t> </a:t>
            </a:r>
            <a:r>
              <a:rPr dirty="0" err="1"/>
              <a:t>уже</a:t>
            </a:r>
            <a:r>
              <a:rPr dirty="0"/>
              <a:t> </a:t>
            </a:r>
            <a:r>
              <a:rPr dirty="0" err="1"/>
              <a:t>определены</a:t>
            </a:r>
            <a:endParaRPr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37A4521-E936-4208-B9BF-D3F1182DE917}"/>
              </a:ext>
            </a:extLst>
          </p:cNvPr>
          <p:cNvSpPr>
            <a:spLocks noGrp="1"/>
          </p:cNvSpPr>
          <p:nvPr/>
        </p:nvSpPr>
        <p:spPr>
          <a:xfrm>
            <a:off x="8020050" y="5295900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latency: agent_run, listing_search, MCP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AB844755-45AA-48B9-B88D-D2FCF708B8A5}"/>
              </a:ext>
            </a:extLst>
          </p:cNvPr>
          <p:cNvSpPr>
            <a:spLocks noGrp="1"/>
          </p:cNvSpPr>
          <p:nvPr/>
        </p:nvSpPr>
        <p:spPr>
          <a:xfrm>
            <a:off x="8020050" y="5581650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quality: nightly QA gate и quality gate status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30D1F91-BE2A-4472-9051-97986288F9C4}"/>
              </a:ext>
            </a:extLst>
          </p:cNvPr>
          <p:cNvSpPr>
            <a:spLocks noGrp="1"/>
          </p:cNvSpPr>
          <p:nvPr/>
        </p:nvSpPr>
        <p:spPr>
          <a:xfrm>
            <a:off x="8020050" y="5867400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empty_shortlist_rate, escalation_rate, freshness age</a:t>
            </a:r>
          </a:p>
        </p:txBody>
      </p:sp>
    </p:spTree>
    <p:extLst>
      <p:ext uri="{BB962C8B-B14F-4D97-AF65-F5344CB8AC3E}">
        <p14:creationId xmlns:p14="http://schemas.microsoft.com/office/powerpoint/2010/main" val="20242297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8E58FDC-1573-47B7-9C49-F63A58D1989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8F3BF9A-92F7-4244-87C6-BF94CCDFEA3C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EXTERNAL INTEGRATION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33A34A5-0682-4CA5-AC98-51D79032E7AD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13919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MCP Cian, с которым работает агент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EEE203EA-41CB-4F60-958E-9644983E77CF}"/>
              </a:ext>
            </a:extLst>
          </p:cNvPr>
          <p:cNvSpPr>
            <a:spLocks noGrp="1"/>
          </p:cNvSpPr>
          <p:nvPr/>
        </p:nvSpPr>
        <p:spPr>
          <a:xfrm>
            <a:off x="400050" y="1085850"/>
            <a:ext cx="7239000" cy="5467350"/>
          </a:xfrm>
          <a:prstGeom prst="roundRect">
            <a:avLst>
              <a:gd name="adj" fmla="val 4530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19721" y="1181100"/>
            <a:ext cx="6399657" cy="373380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025DCDC-0A1F-4556-A914-ED07DB1E860E}"/>
              </a:ext>
            </a:extLst>
          </p:cNvPr>
          <p:cNvSpPr>
            <a:spLocks noGrp="1"/>
          </p:cNvSpPr>
          <p:nvPr/>
        </p:nvSpPr>
        <p:spPr>
          <a:xfrm>
            <a:off x="514350" y="4991100"/>
            <a:ext cx="7010400" cy="1447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Cian не живёт отдельно: его выдача нормализуется в ту же модель Listing и попадает в тот же shortlist.</a:t>
            </a: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67AEAB04-717E-4701-ABC3-58DCA16BC22D}"/>
              </a:ext>
            </a:extLst>
          </p:cNvPr>
          <p:cNvSpPr>
            <a:spLocks noGrp="1"/>
          </p:cNvSpPr>
          <p:nvPr/>
        </p:nvSpPr>
        <p:spPr>
          <a:xfrm>
            <a:off x="7829550" y="1085850"/>
            <a:ext cx="3962400" cy="1600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FB5C3AFD-722F-4A26-974B-709073B4C87A}"/>
              </a:ext>
            </a:extLst>
          </p:cNvPr>
          <p:cNvSpPr>
            <a:spLocks noGrp="1"/>
          </p:cNvSpPr>
          <p:nvPr/>
        </p:nvSpPr>
        <p:spPr>
          <a:xfrm>
            <a:off x="8020050" y="1257300"/>
            <a:ext cx="3581400" cy="266700"/>
          </a:xfrm>
          <a:prstGeom prst="roundRect">
            <a:avLst>
              <a:gd name="adj" fmla="val 50000"/>
            </a:avLst>
          </a:prstGeom>
          <a:solidFill>
            <a:srgbClr val="ECFEFF"/>
          </a:solidFill>
          <a:ln w="9525">
            <a:solidFill>
              <a:srgbClr val="ECFEFF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8831823-13BD-4CCF-8FFD-5795A2ACDD7E}"/>
              </a:ext>
            </a:extLst>
          </p:cNvPr>
          <p:cNvSpPr>
            <a:spLocks noGrp="1"/>
          </p:cNvSpPr>
          <p:nvPr/>
        </p:nvSpPr>
        <p:spPr>
          <a:xfrm>
            <a:off x="8134350" y="1323975"/>
            <a:ext cx="33528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t>ПРОВЕРЕННЫЙ ПРИМЕР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146D622-2370-4ED4-90F8-6AC3321DACF9}"/>
              </a:ext>
            </a:extLst>
          </p:cNvPr>
          <p:cNvSpPr>
            <a:spLocks noGrp="1"/>
          </p:cNvSpPr>
          <p:nvPr/>
        </p:nvSpPr>
        <p:spPr>
          <a:xfrm>
            <a:off x="8020050" y="1600200"/>
            <a:ext cx="3581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Live-capture от 2026-06-14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EB1CA07-56B8-4F93-A87E-6E1389E31607}"/>
              </a:ext>
            </a:extLst>
          </p:cNvPr>
          <p:cNvSpPr>
            <a:spLocks noGrp="1"/>
          </p:cNvSpPr>
          <p:nvPr/>
        </p:nvSpPr>
        <p:spPr>
          <a:xfrm>
            <a:off x="8020050" y="1905000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провайдер: Apify MCP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7851595-B936-4705-8ADF-571276BE013A}"/>
              </a:ext>
            </a:extLst>
          </p:cNvPr>
          <p:cNvSpPr>
            <a:spLocks noGrp="1"/>
          </p:cNvSpPr>
          <p:nvPr/>
        </p:nvSpPr>
        <p:spPr>
          <a:xfrm>
            <a:off x="8020050" y="2190750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инструмент: cian-ru-scraper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0308705-887B-48FE-B4D3-5C84211CDF83}"/>
              </a:ext>
            </a:extLst>
          </p:cNvPr>
          <p:cNvSpPr>
            <a:spLocks noGrp="1"/>
          </p:cNvSpPr>
          <p:nvPr/>
        </p:nvSpPr>
        <p:spPr>
          <a:xfrm>
            <a:off x="8020050" y="2476500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запрос: Moscow, 1 room, rent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7C127A50-163A-49C2-AF4C-E82D3E6CA668}"/>
              </a:ext>
            </a:extLst>
          </p:cNvPr>
          <p:cNvSpPr>
            <a:spLocks noGrp="1"/>
          </p:cNvSpPr>
          <p:nvPr/>
        </p:nvSpPr>
        <p:spPr>
          <a:xfrm>
            <a:off x="7829550" y="2724150"/>
            <a:ext cx="1257300" cy="1066800"/>
          </a:xfrm>
          <a:prstGeom prst="roundRect">
            <a:avLst>
              <a:gd name="adj" fmla="val 23214"/>
            </a:avLst>
          </a:prstGeom>
          <a:solidFill>
            <a:srgbClr val="EFF6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A9ECECB-A297-4723-B229-2B335CEA97D0}"/>
              </a:ext>
            </a:extLst>
          </p:cNvPr>
          <p:cNvSpPr>
            <a:spLocks noGrp="1"/>
          </p:cNvSpPr>
          <p:nvPr/>
        </p:nvSpPr>
        <p:spPr>
          <a:xfrm>
            <a:off x="8020050" y="2895600"/>
            <a:ext cx="8763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25k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C2577B9-9EE1-4C3D-9956-A4FAEF2574B6}"/>
              </a:ext>
            </a:extLst>
          </p:cNvPr>
          <p:cNvSpPr>
            <a:spLocks noGrp="1"/>
          </p:cNvSpPr>
          <p:nvPr/>
        </p:nvSpPr>
        <p:spPr>
          <a:xfrm>
            <a:off x="8020050" y="3295650"/>
            <a:ext cx="8763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₽ • #998771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2912A6F-3DDD-42C3-8704-B68F66311EF4}"/>
              </a:ext>
            </a:extLst>
          </p:cNvPr>
          <p:cNvSpPr>
            <a:spLocks noGrp="1"/>
          </p:cNvSpPr>
          <p:nvPr/>
        </p:nvSpPr>
        <p:spPr>
          <a:xfrm>
            <a:off x="9182100" y="2724150"/>
            <a:ext cx="1257300" cy="1066800"/>
          </a:xfrm>
          <a:prstGeom prst="roundRect">
            <a:avLst>
              <a:gd name="adj" fmla="val 23214"/>
            </a:avLst>
          </a:prstGeom>
          <a:solidFill>
            <a:srgbClr val="ECFE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228D16C-7A06-4C9C-9264-0493C3479825}"/>
              </a:ext>
            </a:extLst>
          </p:cNvPr>
          <p:cNvSpPr>
            <a:spLocks noGrp="1"/>
          </p:cNvSpPr>
          <p:nvPr/>
        </p:nvSpPr>
        <p:spPr>
          <a:xfrm>
            <a:off x="9372600" y="2895600"/>
            <a:ext cx="8763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38k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1C98C70-14BE-4EAA-AEC9-881B7895EC18}"/>
              </a:ext>
            </a:extLst>
          </p:cNvPr>
          <p:cNvSpPr>
            <a:spLocks noGrp="1"/>
          </p:cNvSpPr>
          <p:nvPr/>
        </p:nvSpPr>
        <p:spPr>
          <a:xfrm>
            <a:off x="9372600" y="3295650"/>
            <a:ext cx="8763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₽ • #995460</a:t>
            </a:r>
          </a:p>
        </p:txBody>
      </p:sp>
      <p:sp>
        <p:nvSpPr>
          <p:cNvPr id="20" name="Скругленный прямоугольник 19">
            <a:extLst>
              <a:ext uri="{FF2B5EF4-FFF2-40B4-BE49-F238E27FC236}">
                <a16:creationId xmlns:a16="http://schemas.microsoft.com/office/drawing/2014/main" id="{2498D637-E70B-4BD5-ABFD-32D8B04673AD}"/>
              </a:ext>
            </a:extLst>
          </p:cNvPr>
          <p:cNvSpPr>
            <a:spLocks noGrp="1"/>
          </p:cNvSpPr>
          <p:nvPr/>
        </p:nvSpPr>
        <p:spPr>
          <a:xfrm>
            <a:off x="10534650" y="2724150"/>
            <a:ext cx="1257300" cy="1066800"/>
          </a:xfrm>
          <a:prstGeom prst="roundRect">
            <a:avLst>
              <a:gd name="adj" fmla="val 23214"/>
            </a:avLst>
          </a:prstGeom>
          <a:solidFill>
            <a:srgbClr val="FFF7ED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693B151A-8750-44B2-9793-A69EF922126F}"/>
              </a:ext>
            </a:extLst>
          </p:cNvPr>
          <p:cNvSpPr>
            <a:spLocks noGrp="1"/>
          </p:cNvSpPr>
          <p:nvPr/>
        </p:nvSpPr>
        <p:spPr>
          <a:xfrm>
            <a:off x="10725150" y="2895600"/>
            <a:ext cx="8763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45k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CA15CA5E-831E-4F7C-AB7A-A74B7E87C429}"/>
              </a:ext>
            </a:extLst>
          </p:cNvPr>
          <p:cNvSpPr>
            <a:spLocks noGrp="1"/>
          </p:cNvSpPr>
          <p:nvPr/>
        </p:nvSpPr>
        <p:spPr>
          <a:xfrm>
            <a:off x="10725150" y="3295650"/>
            <a:ext cx="8763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₽ • #992338</a:t>
            </a: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5FAA3321-6AD8-407A-B7AC-5BDC5B7CF635}"/>
              </a:ext>
            </a:extLst>
          </p:cNvPr>
          <p:cNvSpPr>
            <a:spLocks noGrp="1"/>
          </p:cNvSpPr>
          <p:nvPr/>
        </p:nvSpPr>
        <p:spPr>
          <a:xfrm>
            <a:off x="7829550" y="3790950"/>
            <a:ext cx="3962400" cy="2762250"/>
          </a:xfrm>
          <a:prstGeom prst="roundRect">
            <a:avLst>
              <a:gd name="adj" fmla="val 8966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45347854-5E82-4AEF-884D-CD5EFA720353}"/>
              </a:ext>
            </a:extLst>
          </p:cNvPr>
          <p:cNvSpPr>
            <a:spLocks noGrp="1"/>
          </p:cNvSpPr>
          <p:nvPr/>
        </p:nvSpPr>
        <p:spPr>
          <a:xfrm>
            <a:off x="8020050" y="3962400"/>
            <a:ext cx="3581400" cy="2667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2AE22A50-2F70-428C-AB38-76F9B99E6DA2}"/>
              </a:ext>
            </a:extLst>
          </p:cNvPr>
          <p:cNvSpPr>
            <a:spLocks noGrp="1"/>
          </p:cNvSpPr>
          <p:nvPr/>
        </p:nvSpPr>
        <p:spPr>
          <a:xfrm>
            <a:off x="8134350" y="4029075"/>
            <a:ext cx="33528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CONTRACT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D161DF2F-F266-4F65-8A48-C0374B384268}"/>
              </a:ext>
            </a:extLst>
          </p:cNvPr>
          <p:cNvSpPr>
            <a:spLocks noGrp="1"/>
          </p:cNvSpPr>
          <p:nvPr/>
        </p:nvSpPr>
        <p:spPr>
          <a:xfrm>
            <a:off x="8020050" y="4305300"/>
            <a:ext cx="3581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Почему этот слой важен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B2026593-E035-478C-B51F-DF5ED5048964}"/>
              </a:ext>
            </a:extLst>
          </p:cNvPr>
          <p:cNvSpPr>
            <a:spLocks noGrp="1"/>
          </p:cNvSpPr>
          <p:nvPr/>
        </p:nvSpPr>
        <p:spPr>
          <a:xfrm>
            <a:off x="8020050" y="4610100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</a:t>
            </a:r>
            <a:r>
              <a:rPr lang="ru-RU" dirty="0"/>
              <a:t>н</a:t>
            </a:r>
            <a:r>
              <a:rPr dirty="0" err="1"/>
              <a:t>овые</a:t>
            </a:r>
            <a:r>
              <a:rPr lang="ru-RU" dirty="0"/>
              <a:t> провайдеры</a:t>
            </a:r>
            <a:r>
              <a:rPr dirty="0"/>
              <a:t> </a:t>
            </a:r>
            <a:r>
              <a:rPr dirty="0" err="1"/>
              <a:t>подключаются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config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5E46448A-6AE9-4CFD-ACA6-7BFADCA832F9}"/>
              </a:ext>
            </a:extLst>
          </p:cNvPr>
          <p:cNvSpPr>
            <a:spLocks noGrp="1"/>
          </p:cNvSpPr>
          <p:nvPr/>
        </p:nvSpPr>
        <p:spPr>
          <a:xfrm>
            <a:off x="8020050" y="4895850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timeout </a:t>
            </a:r>
            <a:r>
              <a:rPr dirty="0" err="1"/>
              <a:t>или</a:t>
            </a:r>
            <a:r>
              <a:rPr dirty="0"/>
              <a:t> provider fail -&gt; fallback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локальные</a:t>
            </a:r>
            <a:r>
              <a:rPr dirty="0"/>
              <a:t> </a:t>
            </a:r>
            <a:r>
              <a:rPr dirty="0" err="1"/>
              <a:t>объявления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32570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94EA72A-10D5-489D-B1C9-582DA97958F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4460190-3A02-48DF-9BB9-7BF85190273B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DEMO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B6C875B-FE78-4733-89F2-A81D4F3C671F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13919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Отдельный demo режим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5FEE5522-6E22-464C-9E9F-E73B0BA328FB}"/>
              </a:ext>
            </a:extLst>
          </p:cNvPr>
          <p:cNvSpPr>
            <a:spLocks noGrp="1"/>
          </p:cNvSpPr>
          <p:nvPr/>
        </p:nvSpPr>
        <p:spPr>
          <a:xfrm>
            <a:off x="400050" y="1085850"/>
            <a:ext cx="3048000" cy="2000250"/>
          </a:xfrm>
          <a:prstGeom prst="roundRect">
            <a:avLst>
              <a:gd name="adj" fmla="val 12381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9C3B8E10-2150-4E32-8F6A-AEE39F7782BB}"/>
              </a:ext>
            </a:extLst>
          </p:cNvPr>
          <p:cNvSpPr>
            <a:spLocks noGrp="1"/>
          </p:cNvSpPr>
          <p:nvPr/>
        </p:nvSpPr>
        <p:spPr>
          <a:xfrm>
            <a:off x="590550" y="1257300"/>
            <a:ext cx="2667000" cy="26670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951FFAE-F183-4D3C-994A-B0788A88657E}"/>
              </a:ext>
            </a:extLst>
          </p:cNvPr>
          <p:cNvSpPr>
            <a:spLocks noGrp="1"/>
          </p:cNvSpPr>
          <p:nvPr/>
        </p:nvSpPr>
        <p:spPr>
          <a:xfrm>
            <a:off x="704850" y="1323975"/>
            <a:ext cx="24384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t>DEMO MODE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335A2F7-867C-4D31-83C6-319C304568BF}"/>
              </a:ext>
            </a:extLst>
          </p:cNvPr>
          <p:cNvSpPr>
            <a:spLocks noGrp="1"/>
          </p:cNvSpPr>
          <p:nvPr/>
        </p:nvSpPr>
        <p:spPr>
          <a:xfrm>
            <a:off x="590550" y="1600200"/>
            <a:ext cx="2667000" cy="4572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Без живой LLM, но с тем же пайплайном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381C968-F6F8-42C4-BB4A-8661DEBEE851}"/>
              </a:ext>
            </a:extLst>
          </p:cNvPr>
          <p:cNvSpPr>
            <a:spLocks noGrp="1"/>
          </p:cNvSpPr>
          <p:nvPr/>
        </p:nvSpPr>
        <p:spPr>
          <a:xfrm>
            <a:off x="590550" y="2049846"/>
            <a:ext cx="26670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</a:t>
            </a:r>
            <a:r>
              <a:rPr dirty="0" err="1"/>
              <a:t>demo_stub</a:t>
            </a:r>
            <a:r>
              <a:rPr dirty="0"/>
              <a:t> </a:t>
            </a:r>
            <a:r>
              <a:rPr dirty="0" err="1"/>
              <a:t>заменяет</a:t>
            </a:r>
            <a:r>
              <a:rPr dirty="0"/>
              <a:t> </a:t>
            </a:r>
            <a:r>
              <a:rPr dirty="0" err="1"/>
              <a:t>только</a:t>
            </a:r>
            <a:r>
              <a:rPr dirty="0"/>
              <a:t> </a:t>
            </a:r>
            <a:r>
              <a:rPr dirty="0" err="1"/>
              <a:t>недетерминированные</a:t>
            </a:r>
            <a:r>
              <a:rPr dirty="0"/>
              <a:t> </a:t>
            </a:r>
            <a:r>
              <a:rPr dirty="0" err="1"/>
              <a:t>шаги</a:t>
            </a:r>
            <a:endParaRPr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CF1AF3E-90C5-4A7D-85A5-709F96F79FC3}"/>
              </a:ext>
            </a:extLst>
          </p:cNvPr>
          <p:cNvSpPr>
            <a:spLocks noGrp="1"/>
          </p:cNvSpPr>
          <p:nvPr/>
        </p:nvSpPr>
        <p:spPr>
          <a:xfrm>
            <a:off x="590550" y="2377473"/>
            <a:ext cx="26670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search, scoring </a:t>
            </a:r>
            <a:r>
              <a:rPr dirty="0" err="1"/>
              <a:t>и</a:t>
            </a:r>
            <a:r>
              <a:rPr dirty="0"/>
              <a:t> verifier </a:t>
            </a:r>
            <a:r>
              <a:rPr dirty="0" err="1"/>
              <a:t>работают</a:t>
            </a:r>
            <a:r>
              <a:rPr dirty="0"/>
              <a:t> 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обычно</a:t>
            </a:r>
            <a:endParaRPr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BEB7A67-E502-4359-B37F-2308357554AD}"/>
              </a:ext>
            </a:extLst>
          </p:cNvPr>
          <p:cNvSpPr>
            <a:spLocks noGrp="1"/>
          </p:cNvSpPr>
          <p:nvPr/>
        </p:nvSpPr>
        <p:spPr>
          <a:xfrm>
            <a:off x="590550" y="2705100"/>
            <a:ext cx="26670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</a:t>
            </a:r>
            <a:r>
              <a:rPr lang="ru-RU" dirty="0"/>
              <a:t>п</a:t>
            </a:r>
            <a:r>
              <a:rPr dirty="0" err="1"/>
              <a:t>оэтому</a:t>
            </a:r>
            <a:r>
              <a:rPr lang="ru-RU" dirty="0"/>
              <a:t> результаты воспроизводимы</a:t>
            </a:r>
            <a:endParaRPr dirty="0"/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D6A86D50-B28A-4AD0-ADC6-853BB809EA28}"/>
              </a:ext>
            </a:extLst>
          </p:cNvPr>
          <p:cNvSpPr>
            <a:spLocks noGrp="1"/>
          </p:cNvSpPr>
          <p:nvPr/>
        </p:nvSpPr>
        <p:spPr>
          <a:xfrm>
            <a:off x="3619500" y="1085850"/>
            <a:ext cx="8172450" cy="2000250"/>
          </a:xfrm>
          <a:prstGeom prst="roundRect">
            <a:avLst>
              <a:gd name="adj" fmla="val 12381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49CC916-2EBE-4519-93AB-3036B10F985D}"/>
              </a:ext>
            </a:extLst>
          </p:cNvPr>
          <p:cNvSpPr>
            <a:spLocks noGrp="1"/>
          </p:cNvSpPr>
          <p:nvPr/>
        </p:nvSpPr>
        <p:spPr>
          <a:xfrm>
            <a:off x="3810000" y="1257300"/>
            <a:ext cx="779145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lang="ru-RU" dirty="0"/>
              <a:t>Этапы работы с агентом</a:t>
            </a:r>
            <a:endParaRPr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12D5BC5-B49E-481D-A895-8BABD3202CA0}"/>
              </a:ext>
            </a:extLst>
          </p:cNvPr>
          <p:cNvSpPr>
            <a:spLocks noGrp="1"/>
          </p:cNvSpPr>
          <p:nvPr/>
        </p:nvSpPr>
        <p:spPr>
          <a:xfrm>
            <a:off x="3810000" y="1581150"/>
            <a:ext cx="2508250" cy="1333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dirty="0"/>
              <a:t>1. Search: top-3 shortlist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6B8C931-F230-4DF3-846F-09A55E7659C2}"/>
              </a:ext>
            </a:extLst>
          </p:cNvPr>
          <p:cNvSpPr>
            <a:spLocks noGrp="1"/>
          </p:cNvSpPr>
          <p:nvPr/>
        </p:nvSpPr>
        <p:spPr>
          <a:xfrm>
            <a:off x="6451600" y="1581150"/>
            <a:ext cx="2508250" cy="1333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2. Replanning: изменение бюджета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76B4565-2BBC-40CD-80E3-33EB2004F239}"/>
              </a:ext>
            </a:extLst>
          </p:cNvPr>
          <p:cNvSpPr>
            <a:spLocks noGrp="1"/>
          </p:cNvSpPr>
          <p:nvPr/>
        </p:nvSpPr>
        <p:spPr>
          <a:xfrm>
            <a:off x="9093200" y="1581150"/>
            <a:ext cx="2508250" cy="1333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3. Escalation: document risk</a:t>
            </a: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AA21C36F-3357-4E18-9422-270DFBAC24DC}"/>
              </a:ext>
            </a:extLst>
          </p:cNvPr>
          <p:cNvSpPr>
            <a:spLocks noGrp="1"/>
          </p:cNvSpPr>
          <p:nvPr/>
        </p:nvSpPr>
        <p:spPr>
          <a:xfrm>
            <a:off x="400050" y="3257550"/>
            <a:ext cx="3708400" cy="3295650"/>
          </a:xfrm>
          <a:prstGeom prst="roundRect">
            <a:avLst>
              <a:gd name="adj" fmla="val 7514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pic>
        <p:nvPicPr>
          <p:cNvPr id="44" name="Рисунок 43"/>
          <p:cNvPicPr>
            <a:picLocks noChangeAspect="1"/>
          </p:cNvPicPr>
          <p:nvPr/>
        </p:nvPicPr>
        <p:blipFill>
          <a:blip r:embed="rId3"/>
          <a:srcRect t="5716" b="5716"/>
          <a:stretch>
            <a:fillRect/>
          </a:stretch>
        </p:blipFill>
        <p:spPr>
          <a:xfrm>
            <a:off x="495300" y="3352800"/>
            <a:ext cx="3517900" cy="1752600"/>
          </a:xfrm>
          <a:prstGeom prst="rect">
            <a:avLst/>
          </a:prstGeom>
        </p:spPr>
      </p:pic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4A67FE0-EAF2-4560-844C-13AAC78D142F}"/>
              </a:ext>
            </a:extLst>
          </p:cNvPr>
          <p:cNvSpPr>
            <a:spLocks noGrp="1"/>
          </p:cNvSpPr>
          <p:nvPr/>
        </p:nvSpPr>
        <p:spPr>
          <a:xfrm>
            <a:off x="495300" y="5181600"/>
            <a:ext cx="35179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Search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C448D9D-D9AF-48F6-9D1D-02AD8501AF8E}"/>
              </a:ext>
            </a:extLst>
          </p:cNvPr>
          <p:cNvSpPr>
            <a:spLocks noGrp="1"/>
          </p:cNvSpPr>
          <p:nvPr/>
        </p:nvSpPr>
        <p:spPr>
          <a:xfrm>
            <a:off x="495300" y="5505450"/>
            <a:ext cx="3517900" cy="914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Happy path: кейс R-0002, top-3 и вкладка shortlist.</a:t>
            </a:r>
          </a:p>
        </p:txBody>
      </p:sp>
      <p:sp>
        <p:nvSpPr>
          <p:cNvPr id="20" name="Скругленный прямоугольник 19">
            <a:extLst>
              <a:ext uri="{FF2B5EF4-FFF2-40B4-BE49-F238E27FC236}">
                <a16:creationId xmlns:a16="http://schemas.microsoft.com/office/drawing/2014/main" id="{85D21751-190B-411E-ACE1-EDD385EDAB2D}"/>
              </a:ext>
            </a:extLst>
          </p:cNvPr>
          <p:cNvSpPr>
            <a:spLocks noGrp="1"/>
          </p:cNvSpPr>
          <p:nvPr/>
        </p:nvSpPr>
        <p:spPr>
          <a:xfrm>
            <a:off x="4241800" y="3257550"/>
            <a:ext cx="3708400" cy="3295650"/>
          </a:xfrm>
          <a:prstGeom prst="roundRect">
            <a:avLst>
              <a:gd name="adj" fmla="val 7514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pic>
        <p:nvPicPr>
          <p:cNvPr id="48" name="Рисунок 47"/>
          <p:cNvPicPr>
            <a:picLocks noChangeAspect="1"/>
          </p:cNvPicPr>
          <p:nvPr/>
        </p:nvPicPr>
        <p:blipFill>
          <a:blip r:embed="rId4"/>
          <a:srcRect t="5716" b="5716"/>
          <a:stretch>
            <a:fillRect/>
          </a:stretch>
        </p:blipFill>
        <p:spPr>
          <a:xfrm>
            <a:off x="4337050" y="3352800"/>
            <a:ext cx="3517900" cy="1752600"/>
          </a:xfrm>
          <a:prstGeom prst="rect">
            <a:avLst/>
          </a:prstGeom>
        </p:spPr>
      </p:pic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7F557E27-B025-421C-B362-40AFB5139B3C}"/>
              </a:ext>
            </a:extLst>
          </p:cNvPr>
          <p:cNvSpPr>
            <a:spLocks noGrp="1"/>
          </p:cNvSpPr>
          <p:nvPr/>
        </p:nvSpPr>
        <p:spPr>
          <a:xfrm>
            <a:off x="4337050" y="5181600"/>
            <a:ext cx="35179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Replanning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4A68911-06B6-40AA-9347-4BD8DDA59599}"/>
              </a:ext>
            </a:extLst>
          </p:cNvPr>
          <p:cNvSpPr>
            <a:spLocks noGrp="1"/>
          </p:cNvSpPr>
          <p:nvPr/>
        </p:nvSpPr>
        <p:spPr>
          <a:xfrm>
            <a:off x="4337050" y="5505450"/>
            <a:ext cx="3517900" cy="914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Changed constraints видно прямо в состоянии агента.</a:t>
            </a: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5A33C96-C48E-4C79-9E3C-7B226537D493}"/>
              </a:ext>
            </a:extLst>
          </p:cNvPr>
          <p:cNvSpPr>
            <a:spLocks noGrp="1"/>
          </p:cNvSpPr>
          <p:nvPr/>
        </p:nvSpPr>
        <p:spPr>
          <a:xfrm>
            <a:off x="8083550" y="3257550"/>
            <a:ext cx="3708400" cy="3295650"/>
          </a:xfrm>
          <a:prstGeom prst="roundRect">
            <a:avLst>
              <a:gd name="adj" fmla="val 7514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pic>
        <p:nvPicPr>
          <p:cNvPr id="52" name="Рисунок 51"/>
          <p:cNvPicPr>
            <a:picLocks noChangeAspect="1"/>
          </p:cNvPicPr>
          <p:nvPr/>
        </p:nvPicPr>
        <p:blipFill>
          <a:blip r:embed="rId5"/>
          <a:srcRect t="5716" b="5716"/>
          <a:stretch>
            <a:fillRect/>
          </a:stretch>
        </p:blipFill>
        <p:spPr>
          <a:xfrm>
            <a:off x="8178800" y="3352800"/>
            <a:ext cx="3517900" cy="1752600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A846CFCD-9273-444C-A741-7C2261E4D760}"/>
              </a:ext>
            </a:extLst>
          </p:cNvPr>
          <p:cNvSpPr>
            <a:spLocks noGrp="1"/>
          </p:cNvSpPr>
          <p:nvPr/>
        </p:nvSpPr>
        <p:spPr>
          <a:xfrm>
            <a:off x="8178800" y="5181600"/>
            <a:ext cx="35179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Escalation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7B2F1786-D76E-4191-BB67-DC4429BB994B}"/>
              </a:ext>
            </a:extLst>
          </p:cNvPr>
          <p:cNvSpPr>
            <a:spLocks noGrp="1"/>
          </p:cNvSpPr>
          <p:nvPr/>
        </p:nvSpPr>
        <p:spPr>
          <a:xfrm>
            <a:off x="8178800" y="5505450"/>
            <a:ext cx="3517900" cy="914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Verifier не даёт unsafe shortlist и предлагает human handoff.</a:t>
            </a:r>
          </a:p>
        </p:txBody>
      </p:sp>
    </p:spTree>
    <p:extLst>
      <p:ext uri="{BB962C8B-B14F-4D97-AF65-F5344CB8AC3E}">
        <p14:creationId xmlns:p14="http://schemas.microsoft.com/office/powerpoint/2010/main" val="4906118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4D204DFD-2864-4848-9D7E-07314420EFB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F1A5110-B703-418A-8366-3224A35C1C0D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QUALITY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C648E28-CD9A-40A1-90D8-32782EAD8414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13919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Как мы считаем score и как его проверяем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DC86784C-BC4E-4BCF-B615-5AA58AABA853}"/>
              </a:ext>
            </a:extLst>
          </p:cNvPr>
          <p:cNvSpPr>
            <a:spLocks noGrp="1"/>
          </p:cNvSpPr>
          <p:nvPr/>
        </p:nvSpPr>
        <p:spPr>
          <a:xfrm>
            <a:off x="400050" y="1085850"/>
            <a:ext cx="7239000" cy="3067050"/>
          </a:xfrm>
          <a:prstGeom prst="roundRect">
            <a:avLst>
              <a:gd name="adj" fmla="val 8075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CC1AF89D-BC94-42E1-A5A5-08E9A69AA0A2}"/>
              </a:ext>
            </a:extLst>
          </p:cNvPr>
          <p:cNvSpPr>
            <a:spLocks noGrp="1"/>
          </p:cNvSpPr>
          <p:nvPr/>
        </p:nvSpPr>
        <p:spPr>
          <a:xfrm>
            <a:off x="590550" y="1257300"/>
            <a:ext cx="6858000" cy="2667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7220583-9F7F-45FC-BC45-0CAB4CAED300}"/>
              </a:ext>
            </a:extLst>
          </p:cNvPr>
          <p:cNvSpPr>
            <a:spLocks noGrp="1"/>
          </p:cNvSpPr>
          <p:nvPr/>
        </p:nvSpPr>
        <p:spPr>
          <a:xfrm>
            <a:off x="704850" y="1323975"/>
            <a:ext cx="66294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SHORTLIST SCORE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A1E0DFF-4489-44C7-9F7D-204BBE9D1B07}"/>
              </a:ext>
            </a:extLst>
          </p:cNvPr>
          <p:cNvSpPr>
            <a:spLocks noGrp="1"/>
          </p:cNvSpPr>
          <p:nvPr/>
        </p:nvSpPr>
        <p:spPr>
          <a:xfrm>
            <a:off x="590550" y="1600200"/>
            <a:ext cx="6858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Как считается score shortlist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57D8CFC-948C-4CFC-8CB5-172D958F0628}"/>
              </a:ext>
            </a:extLst>
          </p:cNvPr>
          <p:cNvSpPr>
            <a:spLocks noGrp="1"/>
          </p:cNvSpPr>
          <p:nvPr/>
        </p:nvSpPr>
        <p:spPr>
          <a:xfrm>
            <a:off x="590550" y="1905000"/>
            <a:ext cx="6858000" cy="4381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Это внутренний ranking score для объявлений: он помогает упорядочить кандидатов до verifier и финального ответа.</a:t>
            </a: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0717B69C-B6E1-457E-9899-6366294F4084}"/>
              </a:ext>
            </a:extLst>
          </p:cNvPr>
          <p:cNvSpPr>
            <a:spLocks noGrp="1"/>
          </p:cNvSpPr>
          <p:nvPr/>
        </p:nvSpPr>
        <p:spPr>
          <a:xfrm>
            <a:off x="590550" y="2419350"/>
            <a:ext cx="2222500" cy="1066800"/>
          </a:xfrm>
          <a:prstGeom prst="roundRect">
            <a:avLst>
              <a:gd name="adj" fmla="val 23214"/>
            </a:avLst>
          </a:prstGeom>
          <a:solidFill>
            <a:srgbClr val="EFF6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56C4DC0-9102-4C5F-8A2C-D65E35EE2BED}"/>
              </a:ext>
            </a:extLst>
          </p:cNvPr>
          <p:cNvSpPr>
            <a:spLocks noGrp="1"/>
          </p:cNvSpPr>
          <p:nvPr/>
        </p:nvSpPr>
        <p:spPr>
          <a:xfrm>
            <a:off x="781050" y="2590800"/>
            <a:ext cx="18415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25%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CF75788-4335-4B48-995D-54AF5A1B4575}"/>
              </a:ext>
            </a:extLst>
          </p:cNvPr>
          <p:cNvSpPr>
            <a:spLocks noGrp="1"/>
          </p:cNvSpPr>
          <p:nvPr/>
        </p:nvSpPr>
        <p:spPr>
          <a:xfrm>
            <a:off x="781050" y="2990850"/>
            <a:ext cx="18415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budget fit</a:t>
            </a: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7215EF63-0FB5-4B9B-ADDB-A93F921B9E53}"/>
              </a:ext>
            </a:extLst>
          </p:cNvPr>
          <p:cNvSpPr>
            <a:spLocks noGrp="1"/>
          </p:cNvSpPr>
          <p:nvPr/>
        </p:nvSpPr>
        <p:spPr>
          <a:xfrm>
            <a:off x="2908300" y="2419350"/>
            <a:ext cx="2222500" cy="1066800"/>
          </a:xfrm>
          <a:prstGeom prst="roundRect">
            <a:avLst>
              <a:gd name="adj" fmla="val 23214"/>
            </a:avLst>
          </a:prstGeom>
          <a:solidFill>
            <a:srgbClr val="ECFE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DA77989-F391-4005-A824-EE10C222C96F}"/>
              </a:ext>
            </a:extLst>
          </p:cNvPr>
          <p:cNvSpPr>
            <a:spLocks noGrp="1"/>
          </p:cNvSpPr>
          <p:nvPr/>
        </p:nvSpPr>
        <p:spPr>
          <a:xfrm>
            <a:off x="3098800" y="2590800"/>
            <a:ext cx="18415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20%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7FC6074-C840-447D-A95B-1A1E2741E47A}"/>
              </a:ext>
            </a:extLst>
          </p:cNvPr>
          <p:cNvSpPr>
            <a:spLocks noGrp="1"/>
          </p:cNvSpPr>
          <p:nvPr/>
        </p:nvSpPr>
        <p:spPr>
          <a:xfrm>
            <a:off x="3098800" y="2990850"/>
            <a:ext cx="18415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commute fit</a:t>
            </a: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8B2FFD31-5122-47D9-A2BF-007B7B3F4EF1}"/>
              </a:ext>
            </a:extLst>
          </p:cNvPr>
          <p:cNvSpPr>
            <a:spLocks noGrp="1"/>
          </p:cNvSpPr>
          <p:nvPr/>
        </p:nvSpPr>
        <p:spPr>
          <a:xfrm>
            <a:off x="5226050" y="2419350"/>
            <a:ext cx="2222500" cy="1066800"/>
          </a:xfrm>
          <a:prstGeom prst="roundRect">
            <a:avLst>
              <a:gd name="adj" fmla="val 23214"/>
            </a:avLst>
          </a:prstGeom>
          <a:solidFill>
            <a:srgbClr val="FFF7ED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D7C6626-B371-4C87-9C64-A6E73F62965D}"/>
              </a:ext>
            </a:extLst>
          </p:cNvPr>
          <p:cNvSpPr>
            <a:spLocks noGrp="1"/>
          </p:cNvSpPr>
          <p:nvPr/>
        </p:nvSpPr>
        <p:spPr>
          <a:xfrm>
            <a:off x="5416550" y="2590800"/>
            <a:ext cx="18415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20%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78B4D35-FE2C-4D74-AB59-375BB83DFDD5}"/>
              </a:ext>
            </a:extLst>
          </p:cNvPr>
          <p:cNvSpPr>
            <a:spLocks noGrp="1"/>
          </p:cNvSpPr>
          <p:nvPr/>
        </p:nvSpPr>
        <p:spPr>
          <a:xfrm>
            <a:off x="5416550" y="2990850"/>
            <a:ext cx="18415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household fit</a:t>
            </a: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E5771813-80EA-4729-91D5-033E749FAA96}"/>
              </a:ext>
            </a:extLst>
          </p:cNvPr>
          <p:cNvSpPr>
            <a:spLocks noGrp="1"/>
          </p:cNvSpPr>
          <p:nvPr/>
        </p:nvSpPr>
        <p:spPr>
          <a:xfrm>
            <a:off x="590550" y="3371850"/>
            <a:ext cx="2222500" cy="1066800"/>
          </a:xfrm>
          <a:prstGeom prst="roundRect">
            <a:avLst>
              <a:gd name="adj" fmla="val 23214"/>
            </a:avLst>
          </a:prstGeom>
          <a:solidFill>
            <a:srgbClr val="EFF6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B0A59FB5-094E-4A03-9C90-E611EEF3690D}"/>
              </a:ext>
            </a:extLst>
          </p:cNvPr>
          <p:cNvSpPr>
            <a:spLocks noGrp="1"/>
          </p:cNvSpPr>
          <p:nvPr/>
        </p:nvSpPr>
        <p:spPr>
          <a:xfrm>
            <a:off x="781050" y="3543300"/>
            <a:ext cx="18415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15%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2FE400C-8BB8-4EA2-8D42-11CFBBF113F7}"/>
              </a:ext>
            </a:extLst>
          </p:cNvPr>
          <p:cNvSpPr>
            <a:spLocks noGrp="1"/>
          </p:cNvSpPr>
          <p:nvPr/>
        </p:nvSpPr>
        <p:spPr>
          <a:xfrm>
            <a:off x="781050" y="3943350"/>
            <a:ext cx="18415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district fit</a:t>
            </a:r>
          </a:p>
        </p:txBody>
      </p:sp>
      <p:sp>
        <p:nvSpPr>
          <p:cNvPr id="21" name="Скругленный прямоугольник 20">
            <a:extLst>
              <a:ext uri="{FF2B5EF4-FFF2-40B4-BE49-F238E27FC236}">
                <a16:creationId xmlns:a16="http://schemas.microsoft.com/office/drawing/2014/main" id="{2B212BCC-A7D6-4D7F-AE63-3BBEEB408489}"/>
              </a:ext>
            </a:extLst>
          </p:cNvPr>
          <p:cNvSpPr>
            <a:spLocks noGrp="1"/>
          </p:cNvSpPr>
          <p:nvPr/>
        </p:nvSpPr>
        <p:spPr>
          <a:xfrm>
            <a:off x="2908300" y="3371850"/>
            <a:ext cx="2222500" cy="1066800"/>
          </a:xfrm>
          <a:prstGeom prst="roundRect">
            <a:avLst>
              <a:gd name="adj" fmla="val 23214"/>
            </a:avLst>
          </a:prstGeom>
          <a:solidFill>
            <a:srgbClr val="ECFE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2A36557-121F-487C-89B6-5C5AD5EF8026}"/>
              </a:ext>
            </a:extLst>
          </p:cNvPr>
          <p:cNvSpPr>
            <a:spLocks noGrp="1"/>
          </p:cNvSpPr>
          <p:nvPr/>
        </p:nvSpPr>
        <p:spPr>
          <a:xfrm>
            <a:off x="3098800" y="3543300"/>
            <a:ext cx="18415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10%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BB809384-B5DA-4101-9EE1-D24DFA704A76}"/>
              </a:ext>
            </a:extLst>
          </p:cNvPr>
          <p:cNvSpPr>
            <a:spLocks noGrp="1"/>
          </p:cNvSpPr>
          <p:nvPr/>
        </p:nvSpPr>
        <p:spPr>
          <a:xfrm>
            <a:off x="3098800" y="3943350"/>
            <a:ext cx="18415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pet fit</a:t>
            </a: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079B555F-620F-4403-8DAB-EDD8F25CF47A}"/>
              </a:ext>
            </a:extLst>
          </p:cNvPr>
          <p:cNvSpPr>
            <a:spLocks noGrp="1"/>
          </p:cNvSpPr>
          <p:nvPr/>
        </p:nvSpPr>
        <p:spPr>
          <a:xfrm>
            <a:off x="5226050" y="3371850"/>
            <a:ext cx="2222500" cy="1066800"/>
          </a:xfrm>
          <a:prstGeom prst="roundRect">
            <a:avLst>
              <a:gd name="adj" fmla="val 23214"/>
            </a:avLst>
          </a:prstGeom>
          <a:solidFill>
            <a:srgbClr val="FFF7ED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79AEDAD3-CF20-4B5D-BACB-1DABBC0D69CC}"/>
              </a:ext>
            </a:extLst>
          </p:cNvPr>
          <p:cNvSpPr>
            <a:spLocks noGrp="1"/>
          </p:cNvSpPr>
          <p:nvPr/>
        </p:nvSpPr>
        <p:spPr>
          <a:xfrm>
            <a:off x="5416550" y="3543300"/>
            <a:ext cx="18415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10%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7D1A1060-DC2D-4A81-8023-1EB6CE6451ED}"/>
              </a:ext>
            </a:extLst>
          </p:cNvPr>
          <p:cNvSpPr>
            <a:spLocks noGrp="1"/>
          </p:cNvSpPr>
          <p:nvPr/>
        </p:nvSpPr>
        <p:spPr>
          <a:xfrm>
            <a:off x="5416550" y="3943350"/>
            <a:ext cx="18415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upfront fit</a:t>
            </a: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79F741DC-A0C4-40B2-AE16-204EA8E986FA}"/>
              </a:ext>
            </a:extLst>
          </p:cNvPr>
          <p:cNvSpPr>
            <a:spLocks noGrp="1"/>
          </p:cNvSpPr>
          <p:nvPr/>
        </p:nvSpPr>
        <p:spPr>
          <a:xfrm>
            <a:off x="400050" y="4305300"/>
            <a:ext cx="7239000" cy="2247900"/>
          </a:xfrm>
          <a:prstGeom prst="roundRect">
            <a:avLst>
              <a:gd name="adj" fmla="val 11017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8" name="Скругленный прямоугольник 27">
            <a:extLst>
              <a:ext uri="{FF2B5EF4-FFF2-40B4-BE49-F238E27FC236}">
                <a16:creationId xmlns:a16="http://schemas.microsoft.com/office/drawing/2014/main" id="{D5411DCC-126B-4240-A451-9B948F4427F2}"/>
              </a:ext>
            </a:extLst>
          </p:cNvPr>
          <p:cNvSpPr>
            <a:spLocks noGrp="1"/>
          </p:cNvSpPr>
          <p:nvPr/>
        </p:nvSpPr>
        <p:spPr>
          <a:xfrm>
            <a:off x="590550" y="4476750"/>
            <a:ext cx="6858000" cy="266700"/>
          </a:xfrm>
          <a:prstGeom prst="roundRect">
            <a:avLst>
              <a:gd name="adj" fmla="val 50000"/>
            </a:avLst>
          </a:prstGeom>
          <a:solidFill>
            <a:srgbClr val="ECFEFF"/>
          </a:solidFill>
          <a:ln w="9525">
            <a:solidFill>
              <a:srgbClr val="ECFEFF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3486B06-A96B-4EFB-BC61-A0BEC6A11A5D}"/>
              </a:ext>
            </a:extLst>
          </p:cNvPr>
          <p:cNvSpPr>
            <a:spLocks noGrp="1"/>
          </p:cNvSpPr>
          <p:nvPr/>
        </p:nvSpPr>
        <p:spPr>
          <a:xfrm>
            <a:off x="704850" y="4543425"/>
            <a:ext cx="66294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t>НА КАКИХ ДАННЫХ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BB9987A-5F3F-45FA-99FB-D87C034A00F5}"/>
              </a:ext>
            </a:extLst>
          </p:cNvPr>
          <p:cNvSpPr>
            <a:spLocks noGrp="1"/>
          </p:cNvSpPr>
          <p:nvPr/>
        </p:nvSpPr>
        <p:spPr>
          <a:xfrm>
            <a:off x="590550" y="4819650"/>
            <a:ext cx="6858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Что входит в расчёт shortlist score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3242112-5CF8-4875-A674-F14BE0881A1E}"/>
              </a:ext>
            </a:extLst>
          </p:cNvPr>
          <p:cNvSpPr>
            <a:spLocks noGrp="1"/>
          </p:cNvSpPr>
          <p:nvPr/>
        </p:nvSpPr>
        <p:spPr>
          <a:xfrm>
            <a:off x="590550" y="5124450"/>
            <a:ext cx="68580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- список: аренда, комнаты, залог, меблировка, правила проживания с домашними животными</a:t>
            </a:r>
            <a:endParaRPr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35C2D427-5283-4355-BF33-D87B8C0BFD32}"/>
              </a:ext>
            </a:extLst>
          </p:cNvPr>
          <p:cNvSpPr>
            <a:spLocks noGrp="1"/>
          </p:cNvSpPr>
          <p:nvPr/>
        </p:nvSpPr>
        <p:spPr>
          <a:xfrm>
            <a:off x="590550" y="5410200"/>
            <a:ext cx="68580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- район: безопасный, транспортный, школьный, для семейного отдыха</a:t>
            </a:r>
            <a:endParaRPr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F6B3C12-8741-47C0-91CE-2C708A297FE8}"/>
              </a:ext>
            </a:extLst>
          </p:cNvPr>
          <p:cNvSpPr>
            <a:spLocks noGrp="1"/>
          </p:cNvSpPr>
          <p:nvPr/>
        </p:nvSpPr>
        <p:spPr>
          <a:xfrm>
            <a:off x="590550" y="5695950"/>
            <a:ext cx="68580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- ограничения: бюджет, дата заселения, домашние животные, поездки на работу</a:t>
            </a:r>
            <a:endParaRPr dirty="0"/>
          </a:p>
        </p:txBody>
      </p:sp>
      <p:sp>
        <p:nvSpPr>
          <p:cNvPr id="34" name="Скругленный прямоугольник 33">
            <a:extLst>
              <a:ext uri="{FF2B5EF4-FFF2-40B4-BE49-F238E27FC236}">
                <a16:creationId xmlns:a16="http://schemas.microsoft.com/office/drawing/2014/main" id="{4298A6E7-D5F4-4CA6-B6BC-39EAEB3F8F99}"/>
              </a:ext>
            </a:extLst>
          </p:cNvPr>
          <p:cNvSpPr>
            <a:spLocks noGrp="1"/>
          </p:cNvSpPr>
          <p:nvPr/>
        </p:nvSpPr>
        <p:spPr>
          <a:xfrm>
            <a:off x="7829550" y="1085850"/>
            <a:ext cx="3962400" cy="1619250"/>
          </a:xfrm>
          <a:prstGeom prst="roundRect">
            <a:avLst>
              <a:gd name="adj" fmla="val 15294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35" name="Скругленный прямоугольник 34">
            <a:extLst>
              <a:ext uri="{FF2B5EF4-FFF2-40B4-BE49-F238E27FC236}">
                <a16:creationId xmlns:a16="http://schemas.microsoft.com/office/drawing/2014/main" id="{2FF0FE95-0389-42BE-A25E-EED084C26413}"/>
              </a:ext>
            </a:extLst>
          </p:cNvPr>
          <p:cNvSpPr>
            <a:spLocks noGrp="1"/>
          </p:cNvSpPr>
          <p:nvPr/>
        </p:nvSpPr>
        <p:spPr>
          <a:xfrm>
            <a:off x="8020050" y="1257300"/>
            <a:ext cx="3581400" cy="26670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D961AC3F-97FA-40CE-85CB-7AF01372F50C}"/>
              </a:ext>
            </a:extLst>
          </p:cNvPr>
          <p:cNvSpPr>
            <a:spLocks noGrp="1"/>
          </p:cNvSpPr>
          <p:nvPr/>
        </p:nvSpPr>
        <p:spPr>
          <a:xfrm>
            <a:off x="8134350" y="1323975"/>
            <a:ext cx="33528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t>OFFLINE BENCHMARK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6E3ABB19-5646-4885-A3EB-B9CC81CE0CFB}"/>
              </a:ext>
            </a:extLst>
          </p:cNvPr>
          <p:cNvSpPr>
            <a:spLocks noGrp="1"/>
          </p:cNvSpPr>
          <p:nvPr/>
        </p:nvSpPr>
        <p:spPr>
          <a:xfrm>
            <a:off x="8020050" y="1600200"/>
            <a:ext cx="3581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Как оцениваем модель офлайн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67685FFE-1F61-4E2B-8911-828F0194D2A4}"/>
              </a:ext>
            </a:extLst>
          </p:cNvPr>
          <p:cNvSpPr>
            <a:spLocks noGrp="1"/>
          </p:cNvSpPr>
          <p:nvPr/>
        </p:nvSpPr>
        <p:spPr>
          <a:xfrm>
            <a:off x="8020050" y="1905000"/>
            <a:ext cx="35814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тот же data/qa/qa.jsonl как suite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30E1F8E7-EC5C-467F-ABF7-B41583CAE9EE}"/>
              </a:ext>
            </a:extLst>
          </p:cNvPr>
          <p:cNvSpPr>
            <a:spLocks noGrp="1"/>
          </p:cNvSpPr>
          <p:nvPr/>
        </p:nvSpPr>
        <p:spPr>
          <a:xfrm>
            <a:off x="8020050" y="2171700"/>
            <a:ext cx="35814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для live LLM запускаем run_benchmark</a:t>
            </a: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6E8A845A-835F-4AD4-8408-53A18DA13985}"/>
              </a:ext>
            </a:extLst>
          </p:cNvPr>
          <p:cNvSpPr>
            <a:spLocks noGrp="1"/>
          </p:cNvSpPr>
          <p:nvPr/>
        </p:nvSpPr>
        <p:spPr>
          <a:xfrm>
            <a:off x="8020050" y="2438400"/>
            <a:ext cx="35814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</a:t>
            </a:r>
            <a:r>
              <a:rPr dirty="0" err="1"/>
              <a:t>минимум</a:t>
            </a:r>
            <a:r>
              <a:rPr dirty="0"/>
              <a:t> 3</a:t>
            </a:r>
            <a:r>
              <a:rPr lang="ru-RU" dirty="0"/>
              <a:t> запуска</a:t>
            </a:r>
            <a:r>
              <a:rPr dirty="0"/>
              <a:t>, </a:t>
            </a:r>
            <a:r>
              <a:rPr dirty="0" err="1"/>
              <a:t>лучше</a:t>
            </a:r>
            <a:r>
              <a:rPr dirty="0"/>
              <a:t> 5</a:t>
            </a:r>
          </a:p>
        </p:txBody>
      </p:sp>
      <p:sp>
        <p:nvSpPr>
          <p:cNvPr id="42" name="Скругленный прямоугольник 41">
            <a:extLst>
              <a:ext uri="{FF2B5EF4-FFF2-40B4-BE49-F238E27FC236}">
                <a16:creationId xmlns:a16="http://schemas.microsoft.com/office/drawing/2014/main" id="{569486A6-43C8-4802-952F-55489C9A6D8B}"/>
              </a:ext>
            </a:extLst>
          </p:cNvPr>
          <p:cNvSpPr>
            <a:spLocks noGrp="1"/>
          </p:cNvSpPr>
          <p:nvPr/>
        </p:nvSpPr>
        <p:spPr>
          <a:xfrm>
            <a:off x="7829550" y="2857500"/>
            <a:ext cx="3962400" cy="1619250"/>
          </a:xfrm>
          <a:prstGeom prst="roundRect">
            <a:avLst>
              <a:gd name="adj" fmla="val 15294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9D48648C-3967-441A-BD73-7E630B5E1F90}"/>
              </a:ext>
            </a:extLst>
          </p:cNvPr>
          <p:cNvSpPr>
            <a:spLocks noGrp="1"/>
          </p:cNvSpPr>
          <p:nvPr/>
        </p:nvSpPr>
        <p:spPr>
          <a:xfrm>
            <a:off x="8020050" y="3028950"/>
            <a:ext cx="3581400" cy="2667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7846F792-D918-4BEB-A673-3CF4318BC89E}"/>
              </a:ext>
            </a:extLst>
          </p:cNvPr>
          <p:cNvSpPr>
            <a:spLocks noGrp="1"/>
          </p:cNvSpPr>
          <p:nvPr/>
        </p:nvSpPr>
        <p:spPr>
          <a:xfrm>
            <a:off x="8134350" y="3095625"/>
            <a:ext cx="33528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ЧТО СРАВНИВАЕМ</a:t>
            </a:r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9E239706-6F04-43C7-92E1-2795D2F314AB}"/>
              </a:ext>
            </a:extLst>
          </p:cNvPr>
          <p:cNvSpPr>
            <a:spLocks noGrp="1"/>
          </p:cNvSpPr>
          <p:nvPr/>
        </p:nvSpPr>
        <p:spPr>
          <a:xfrm>
            <a:off x="8020050" y="3371850"/>
            <a:ext cx="3581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Метрики для сравнения вариантов</a:t>
            </a:r>
          </a:p>
        </p:txBody>
      </p:sp>
      <p:sp>
        <p:nvSpPr>
          <p:cNvPr id="46" name="Прямоугольник 45">
            <a:extLst>
              <a:ext uri="{FF2B5EF4-FFF2-40B4-BE49-F238E27FC236}">
                <a16:creationId xmlns:a16="http://schemas.microsoft.com/office/drawing/2014/main" id="{334148F9-D6E6-4FE5-B384-98175CF5A696}"/>
              </a:ext>
            </a:extLst>
          </p:cNvPr>
          <p:cNvSpPr>
            <a:spLocks noGrp="1"/>
          </p:cNvSpPr>
          <p:nvPr/>
        </p:nvSpPr>
        <p:spPr>
          <a:xfrm>
            <a:off x="8020050" y="3676650"/>
            <a:ext cx="35814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domain metrics и quality gate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29204B3E-27C6-44A8-8560-4F8FF8CB35CD}"/>
              </a:ext>
            </a:extLst>
          </p:cNvPr>
          <p:cNvSpPr>
            <a:spLocks noGrp="1"/>
          </p:cNvSpPr>
          <p:nvPr/>
        </p:nvSpPr>
        <p:spPr>
          <a:xfrm>
            <a:off x="8020050" y="3943350"/>
            <a:ext cx="35814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mean_case_score и case pass rate</a:t>
            </a:r>
          </a:p>
        </p:txBody>
      </p:sp>
      <p:sp>
        <p:nvSpPr>
          <p:cNvPr id="50" name="Скругленный прямоугольник 49">
            <a:extLst>
              <a:ext uri="{FF2B5EF4-FFF2-40B4-BE49-F238E27FC236}">
                <a16:creationId xmlns:a16="http://schemas.microsoft.com/office/drawing/2014/main" id="{206802F0-9875-41D3-A23A-C20F2CB76425}"/>
              </a:ext>
            </a:extLst>
          </p:cNvPr>
          <p:cNvSpPr>
            <a:spLocks noGrp="1"/>
          </p:cNvSpPr>
          <p:nvPr/>
        </p:nvSpPr>
        <p:spPr>
          <a:xfrm>
            <a:off x="7829550" y="4629150"/>
            <a:ext cx="3962400" cy="1619250"/>
          </a:xfrm>
          <a:prstGeom prst="roundRect">
            <a:avLst>
              <a:gd name="adj" fmla="val 15294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51" name="Скругленный прямоугольник 50">
            <a:extLst>
              <a:ext uri="{FF2B5EF4-FFF2-40B4-BE49-F238E27FC236}">
                <a16:creationId xmlns:a16="http://schemas.microsoft.com/office/drawing/2014/main" id="{D43FDE23-2140-44C6-B25C-7359C1260359}"/>
              </a:ext>
            </a:extLst>
          </p:cNvPr>
          <p:cNvSpPr>
            <a:spLocks noGrp="1"/>
          </p:cNvSpPr>
          <p:nvPr/>
        </p:nvSpPr>
        <p:spPr>
          <a:xfrm>
            <a:off x="8020050" y="4800600"/>
            <a:ext cx="3581400" cy="266700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 w="9525">
            <a:solidFill>
              <a:srgbClr val="FEF2F2"/>
            </a:solidFill>
            <a:prstDash val="solid"/>
          </a:ln>
        </p:spPr>
      </p:sp>
      <p:sp>
        <p:nvSpPr>
          <p:cNvPr id="52" name="Прямоугольник 51">
            <a:extLst>
              <a:ext uri="{FF2B5EF4-FFF2-40B4-BE49-F238E27FC236}">
                <a16:creationId xmlns:a16="http://schemas.microsoft.com/office/drawing/2014/main" id="{9CFC321F-4B56-40AB-B80B-E7C55D82692E}"/>
              </a:ext>
            </a:extLst>
          </p:cNvPr>
          <p:cNvSpPr>
            <a:spLocks noGrp="1"/>
          </p:cNvSpPr>
          <p:nvPr/>
        </p:nvSpPr>
        <p:spPr>
          <a:xfrm>
            <a:off x="8134350" y="4867275"/>
            <a:ext cx="33528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t>HUMAN FEEDBACK</a:t>
            </a:r>
          </a:p>
        </p:txBody>
      </p:sp>
      <p:sp>
        <p:nvSpPr>
          <p:cNvPr id="53" name="Прямоугольник 52">
            <a:extLst>
              <a:ext uri="{FF2B5EF4-FFF2-40B4-BE49-F238E27FC236}">
                <a16:creationId xmlns:a16="http://schemas.microsoft.com/office/drawing/2014/main" id="{014B08AB-86FD-4573-A139-10989B7C437B}"/>
              </a:ext>
            </a:extLst>
          </p:cNvPr>
          <p:cNvSpPr>
            <a:spLocks noGrp="1"/>
          </p:cNvSpPr>
          <p:nvPr/>
        </p:nvSpPr>
        <p:spPr>
          <a:xfrm>
            <a:off x="8020050" y="5143500"/>
            <a:ext cx="3581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Как оцениваем live-режим</a:t>
            </a:r>
          </a:p>
        </p:txBody>
      </p:sp>
      <p:sp>
        <p:nvSpPr>
          <p:cNvPr id="54" name="Прямоугольник 53">
            <a:extLst>
              <a:ext uri="{FF2B5EF4-FFF2-40B4-BE49-F238E27FC236}">
                <a16:creationId xmlns:a16="http://schemas.microsoft.com/office/drawing/2014/main" id="{9D52BC32-DEF2-449A-82DE-331F0245AA3F}"/>
              </a:ext>
            </a:extLst>
          </p:cNvPr>
          <p:cNvSpPr>
            <a:spLocks noGrp="1"/>
          </p:cNvSpPr>
          <p:nvPr/>
        </p:nvSpPr>
        <p:spPr>
          <a:xfrm>
            <a:off x="8020050" y="5448300"/>
            <a:ext cx="35814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task_completion, constraint_fit, relevance</a:t>
            </a:r>
          </a:p>
        </p:txBody>
      </p:sp>
      <p:sp>
        <p:nvSpPr>
          <p:cNvPr id="55" name="Прямоугольник 54">
            <a:extLst>
              <a:ext uri="{FF2B5EF4-FFF2-40B4-BE49-F238E27FC236}">
                <a16:creationId xmlns:a16="http://schemas.microsoft.com/office/drawing/2014/main" id="{DE7D8F9B-22A6-43BE-B319-D2BBAC02A566}"/>
              </a:ext>
            </a:extLst>
          </p:cNvPr>
          <p:cNvSpPr>
            <a:spLocks noGrp="1"/>
          </p:cNvSpPr>
          <p:nvPr/>
        </p:nvSpPr>
        <p:spPr>
          <a:xfrm>
            <a:off x="8020050" y="5715000"/>
            <a:ext cx="35814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clarity, safety_trust, would_use_again</a:t>
            </a:r>
          </a:p>
        </p:txBody>
      </p: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483DAABA-DD4A-445E-94DF-6F7B312C3976}"/>
              </a:ext>
            </a:extLst>
          </p:cNvPr>
          <p:cNvSpPr>
            <a:spLocks noGrp="1"/>
          </p:cNvSpPr>
          <p:nvPr/>
        </p:nvSpPr>
        <p:spPr>
          <a:xfrm>
            <a:off x="8020050" y="5981700"/>
            <a:ext cx="35814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critical_issue_yes_no как стоп-сигнал</a:t>
            </a:r>
          </a:p>
        </p:txBody>
      </p:sp>
    </p:spTree>
    <p:extLst>
      <p:ext uri="{BB962C8B-B14F-4D97-AF65-F5344CB8AC3E}">
        <p14:creationId xmlns:p14="http://schemas.microsoft.com/office/powerpoint/2010/main" val="736263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F410B94-D979-4E3C-8885-8D5B3A086DC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ED8B798-DAE2-4163-83BA-16550B5DFCB9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TRACE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7B8F540-C1EE-4A36-AE5E-97318070DCBF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13919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Сколько времени занимает каждый этап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A678F074-9C1C-46DD-86D7-F5A1A1FBA1A3}"/>
              </a:ext>
            </a:extLst>
          </p:cNvPr>
          <p:cNvSpPr>
            <a:spLocks noGrp="1"/>
          </p:cNvSpPr>
          <p:nvPr/>
        </p:nvSpPr>
        <p:spPr>
          <a:xfrm>
            <a:off x="400050" y="1085850"/>
            <a:ext cx="7239000" cy="5467350"/>
          </a:xfrm>
          <a:prstGeom prst="roundRect">
            <a:avLst>
              <a:gd name="adj" fmla="val 4530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89116" y="1181100"/>
            <a:ext cx="6660868" cy="388620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F4AE00D-CEFA-44C5-AAD3-D182F862FC4E}"/>
              </a:ext>
            </a:extLst>
          </p:cNvPr>
          <p:cNvSpPr>
            <a:spLocks noGrp="1"/>
          </p:cNvSpPr>
          <p:nvPr/>
        </p:nvSpPr>
        <p:spPr>
          <a:xfrm>
            <a:off x="514350" y="5143500"/>
            <a:ext cx="7010400" cy="1295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 err="1"/>
              <a:t>Замерено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</a:t>
            </a:r>
            <a:r>
              <a:rPr dirty="0" err="1"/>
              <a:t>AgentTraceStep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live </a:t>
            </a:r>
            <a:r>
              <a:rPr dirty="0" err="1"/>
              <a:t>OpenRouter</a:t>
            </a:r>
            <a:r>
              <a:rPr dirty="0"/>
              <a:t> run </a:t>
            </a:r>
            <a:r>
              <a:rPr dirty="0" err="1"/>
              <a:t>от</a:t>
            </a:r>
            <a:r>
              <a:rPr dirty="0"/>
              <a:t> 2026-06-15.</a:t>
            </a: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A102F377-8CF1-49E8-B64D-D69B9CFFB0F8}"/>
              </a:ext>
            </a:extLst>
          </p:cNvPr>
          <p:cNvSpPr>
            <a:spLocks noGrp="1"/>
          </p:cNvSpPr>
          <p:nvPr/>
        </p:nvSpPr>
        <p:spPr>
          <a:xfrm>
            <a:off x="7829550" y="1085850"/>
            <a:ext cx="1244600" cy="1066800"/>
          </a:xfrm>
          <a:prstGeom prst="roundRect">
            <a:avLst>
              <a:gd name="adj" fmla="val 23214"/>
            </a:avLst>
          </a:prstGeom>
          <a:solidFill>
            <a:srgbClr val="EFF6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26154E6-AC22-4F4B-AD97-76B75FE687A2}"/>
              </a:ext>
            </a:extLst>
          </p:cNvPr>
          <p:cNvSpPr>
            <a:spLocks noGrp="1"/>
          </p:cNvSpPr>
          <p:nvPr/>
        </p:nvSpPr>
        <p:spPr>
          <a:xfrm>
            <a:off x="8020050" y="1257300"/>
            <a:ext cx="8636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10.2 s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DECC5E6-7F5B-4A7D-9F34-E9C7CD41BDAE}"/>
              </a:ext>
            </a:extLst>
          </p:cNvPr>
          <p:cNvSpPr>
            <a:spLocks noGrp="1"/>
          </p:cNvSpPr>
          <p:nvPr/>
        </p:nvSpPr>
        <p:spPr>
          <a:xfrm>
            <a:off x="8020050" y="1657350"/>
            <a:ext cx="8636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общий run</a:t>
            </a: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26C79E3E-D885-4077-9E6C-F49F05225CDA}"/>
              </a:ext>
            </a:extLst>
          </p:cNvPr>
          <p:cNvSpPr>
            <a:spLocks noGrp="1"/>
          </p:cNvSpPr>
          <p:nvPr/>
        </p:nvSpPr>
        <p:spPr>
          <a:xfrm>
            <a:off x="9188450" y="1085850"/>
            <a:ext cx="1244600" cy="1066800"/>
          </a:xfrm>
          <a:prstGeom prst="roundRect">
            <a:avLst>
              <a:gd name="adj" fmla="val 23214"/>
            </a:avLst>
          </a:prstGeom>
          <a:solidFill>
            <a:srgbClr val="ECFE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7C244E2-47C7-41D9-AA31-B89D4530BFAF}"/>
              </a:ext>
            </a:extLst>
          </p:cNvPr>
          <p:cNvSpPr>
            <a:spLocks noGrp="1"/>
          </p:cNvSpPr>
          <p:nvPr/>
        </p:nvSpPr>
        <p:spPr>
          <a:xfrm>
            <a:off x="9378950" y="1257300"/>
            <a:ext cx="8636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5.4 s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1FE22331-EF69-4885-A9C2-426D52E6C0A5}"/>
              </a:ext>
            </a:extLst>
          </p:cNvPr>
          <p:cNvSpPr>
            <a:spLocks noGrp="1"/>
          </p:cNvSpPr>
          <p:nvPr/>
        </p:nvSpPr>
        <p:spPr>
          <a:xfrm>
            <a:off x="9378950" y="1657350"/>
            <a:ext cx="8636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intake</a:t>
            </a: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30C546BF-A447-4502-B5C5-A2944205A72F}"/>
              </a:ext>
            </a:extLst>
          </p:cNvPr>
          <p:cNvSpPr>
            <a:spLocks noGrp="1"/>
          </p:cNvSpPr>
          <p:nvPr/>
        </p:nvSpPr>
        <p:spPr>
          <a:xfrm>
            <a:off x="10547350" y="1085850"/>
            <a:ext cx="1244600" cy="1066800"/>
          </a:xfrm>
          <a:prstGeom prst="roundRect">
            <a:avLst>
              <a:gd name="adj" fmla="val 23214"/>
            </a:avLst>
          </a:prstGeom>
          <a:solidFill>
            <a:srgbClr val="FFF7ED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34892EC-E582-4947-92DB-2060F74350D1}"/>
              </a:ext>
            </a:extLst>
          </p:cNvPr>
          <p:cNvSpPr>
            <a:spLocks noGrp="1"/>
          </p:cNvSpPr>
          <p:nvPr/>
        </p:nvSpPr>
        <p:spPr>
          <a:xfrm>
            <a:off x="10737850" y="1257300"/>
            <a:ext cx="8636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3.2 s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27BA025-72DE-4B3F-98C2-0FB88F231AD4}"/>
              </a:ext>
            </a:extLst>
          </p:cNvPr>
          <p:cNvSpPr>
            <a:spLocks noGrp="1"/>
          </p:cNvSpPr>
          <p:nvPr/>
        </p:nvSpPr>
        <p:spPr>
          <a:xfrm>
            <a:off x="10737850" y="1657350"/>
            <a:ext cx="8636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final composer</a:t>
            </a: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0EDACFC3-8860-4654-9380-397B9AD7BD21}"/>
              </a:ext>
            </a:extLst>
          </p:cNvPr>
          <p:cNvSpPr>
            <a:spLocks noGrp="1"/>
          </p:cNvSpPr>
          <p:nvPr/>
        </p:nvSpPr>
        <p:spPr>
          <a:xfrm>
            <a:off x="7829550" y="2152650"/>
            <a:ext cx="3962400" cy="1714500"/>
          </a:xfrm>
          <a:prstGeom prst="roundRect">
            <a:avLst>
              <a:gd name="adj" fmla="val 14444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5BA1750C-AE84-4EC7-AA02-45680E2E74A5}"/>
              </a:ext>
            </a:extLst>
          </p:cNvPr>
          <p:cNvSpPr>
            <a:spLocks noGrp="1"/>
          </p:cNvSpPr>
          <p:nvPr/>
        </p:nvSpPr>
        <p:spPr>
          <a:xfrm>
            <a:off x="8020050" y="2324100"/>
            <a:ext cx="3581400" cy="2667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465739C-6B7A-4D87-BD28-E409A43498B9}"/>
              </a:ext>
            </a:extLst>
          </p:cNvPr>
          <p:cNvSpPr>
            <a:spLocks noGrp="1"/>
          </p:cNvSpPr>
          <p:nvPr/>
        </p:nvSpPr>
        <p:spPr>
          <a:xfrm>
            <a:off x="8134350" y="2390775"/>
            <a:ext cx="33528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ЗАЧЕМ ЭТО НУЖНО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8D6327C-F507-402C-8ACB-43F3855701F5}"/>
              </a:ext>
            </a:extLst>
          </p:cNvPr>
          <p:cNvSpPr>
            <a:spLocks noGrp="1"/>
          </p:cNvSpPr>
          <p:nvPr/>
        </p:nvSpPr>
        <p:spPr>
          <a:xfrm>
            <a:off x="8020050" y="2667000"/>
            <a:ext cx="3581400" cy="609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Trace показывает не только latency, но и реальный маршрут запроса.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AD6CD60-71CC-4BF6-A05C-C4EC677407CE}"/>
              </a:ext>
            </a:extLst>
          </p:cNvPr>
          <p:cNvSpPr>
            <a:spLocks noGrp="1"/>
          </p:cNvSpPr>
          <p:nvPr/>
        </p:nvSpPr>
        <p:spPr>
          <a:xfrm>
            <a:off x="8020050" y="3219450"/>
            <a:ext cx="3581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</a:t>
            </a:r>
            <a:r>
              <a:rPr dirty="0" err="1"/>
              <a:t>видно</a:t>
            </a:r>
            <a:r>
              <a:rPr dirty="0"/>
              <a:t> </a:t>
            </a:r>
            <a:r>
              <a:rPr dirty="0" err="1"/>
              <a:t>шаги</a:t>
            </a:r>
            <a:r>
              <a:rPr dirty="0"/>
              <a:t>, </a:t>
            </a:r>
            <a:r>
              <a:rPr dirty="0" err="1"/>
              <a:t>которые</a:t>
            </a:r>
            <a:r>
              <a:rPr dirty="0"/>
              <a:t> </a:t>
            </a:r>
            <a:r>
              <a:rPr dirty="0" err="1"/>
              <a:t>агент</a:t>
            </a:r>
            <a:r>
              <a:rPr dirty="0"/>
              <a:t> </a:t>
            </a:r>
            <a:r>
              <a:rPr dirty="0" err="1"/>
              <a:t>реально</a:t>
            </a:r>
            <a:r>
              <a:rPr dirty="0"/>
              <a:t> </a:t>
            </a:r>
            <a:r>
              <a:rPr dirty="0" err="1"/>
              <a:t>прошёл</a:t>
            </a:r>
            <a:endParaRPr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9A12839-AB0F-408E-9B5A-3865C300E82A}"/>
              </a:ext>
            </a:extLst>
          </p:cNvPr>
          <p:cNvSpPr>
            <a:spLocks noGrp="1"/>
          </p:cNvSpPr>
          <p:nvPr/>
        </p:nvSpPr>
        <p:spPr>
          <a:xfrm>
            <a:off x="8020050" y="3524250"/>
            <a:ext cx="3581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</a:t>
            </a:r>
            <a:r>
              <a:rPr dirty="0" err="1"/>
              <a:t>видно</a:t>
            </a:r>
            <a:r>
              <a:rPr dirty="0"/>
              <a:t> </a:t>
            </a:r>
            <a:r>
              <a:rPr dirty="0" err="1"/>
              <a:t>момент</a:t>
            </a:r>
            <a:r>
              <a:rPr dirty="0"/>
              <a:t> </a:t>
            </a:r>
            <a:r>
              <a:rPr dirty="0" err="1"/>
              <a:t>ухода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clarification</a:t>
            </a:r>
          </a:p>
        </p:txBody>
      </p:sp>
      <p:sp>
        <p:nvSpPr>
          <p:cNvPr id="22" name="Скругленный прямоугольник 21">
            <a:extLst>
              <a:ext uri="{FF2B5EF4-FFF2-40B4-BE49-F238E27FC236}">
                <a16:creationId xmlns:a16="http://schemas.microsoft.com/office/drawing/2014/main" id="{4670470A-830D-47E2-A4CE-85C9DC95201F}"/>
              </a:ext>
            </a:extLst>
          </p:cNvPr>
          <p:cNvSpPr>
            <a:spLocks noGrp="1"/>
          </p:cNvSpPr>
          <p:nvPr/>
        </p:nvSpPr>
        <p:spPr>
          <a:xfrm>
            <a:off x="7829550" y="4019550"/>
            <a:ext cx="3962400" cy="2533650"/>
          </a:xfrm>
          <a:prstGeom prst="roundRect">
            <a:avLst>
              <a:gd name="adj" fmla="val 9774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D4365B9-7654-4183-9910-79247C63CC83}"/>
              </a:ext>
            </a:extLst>
          </p:cNvPr>
          <p:cNvSpPr>
            <a:spLocks noGrp="1"/>
          </p:cNvSpPr>
          <p:nvPr/>
        </p:nvSpPr>
        <p:spPr>
          <a:xfrm>
            <a:off x="8020050" y="4191000"/>
            <a:ext cx="3581400" cy="266700"/>
          </a:xfrm>
          <a:prstGeom prst="roundRect">
            <a:avLst>
              <a:gd name="adj" fmla="val 50000"/>
            </a:avLst>
          </a:prstGeom>
          <a:solidFill>
            <a:srgbClr val="ECFEFF"/>
          </a:solidFill>
          <a:ln w="9525">
            <a:solidFill>
              <a:srgbClr val="ECFEFF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D0741216-EA2E-4D63-8BBE-0B8B401B28CA}"/>
              </a:ext>
            </a:extLst>
          </p:cNvPr>
          <p:cNvSpPr>
            <a:spLocks noGrp="1"/>
          </p:cNvSpPr>
          <p:nvPr/>
        </p:nvSpPr>
        <p:spPr>
          <a:xfrm>
            <a:off x="8134350" y="4257675"/>
            <a:ext cx="33528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t>НАБЛЮДЕНИЕ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C6C4CBA-DFBB-47F2-947D-5F1258BBBCEB}"/>
              </a:ext>
            </a:extLst>
          </p:cNvPr>
          <p:cNvSpPr>
            <a:spLocks noGrp="1"/>
          </p:cNvSpPr>
          <p:nvPr/>
        </p:nvSpPr>
        <p:spPr>
          <a:xfrm>
            <a:off x="8020050" y="4533900"/>
            <a:ext cx="3581400" cy="609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В этом live кейсе почти вся стоимость сидит в LLM-узлах.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91077882-902D-4DE2-9CF8-8480D1C26863}"/>
              </a:ext>
            </a:extLst>
          </p:cNvPr>
          <p:cNvSpPr>
            <a:spLocks noGrp="1"/>
          </p:cNvSpPr>
          <p:nvPr/>
        </p:nvSpPr>
        <p:spPr>
          <a:xfrm>
            <a:off x="8020050" y="5219700"/>
            <a:ext cx="3581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router + intake + final composer = 10.19 s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2CA2C445-2AF8-4757-B81A-44B355E6EED3}"/>
              </a:ext>
            </a:extLst>
          </p:cNvPr>
          <p:cNvSpPr>
            <a:spLocks noGrp="1"/>
          </p:cNvSpPr>
          <p:nvPr/>
        </p:nvSpPr>
        <p:spPr>
          <a:xfrm>
            <a:off x="8020050" y="5524500"/>
            <a:ext cx="3581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детерминированный контур занял около 6 ms</a:t>
            </a:r>
          </a:p>
        </p:txBody>
      </p:sp>
    </p:spTree>
    <p:extLst>
      <p:ext uri="{BB962C8B-B14F-4D97-AF65-F5344CB8AC3E}">
        <p14:creationId xmlns:p14="http://schemas.microsoft.com/office/powerpoint/2010/main" val="1884634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BBEB757-4853-4912-8479-CF43B7745BA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9DED67E-250D-4FC5-BB4B-F10387D2F554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KNOWN ISSUES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0993307-2160-4AA2-89FE-94875F585D6F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13919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Проблемы, с которыми мы сталкивались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0110DF58-09B1-4335-9927-3F1B56083CBE}"/>
              </a:ext>
            </a:extLst>
          </p:cNvPr>
          <p:cNvSpPr>
            <a:spLocks noGrp="1"/>
          </p:cNvSpPr>
          <p:nvPr/>
        </p:nvSpPr>
        <p:spPr>
          <a:xfrm>
            <a:off x="400050" y="1085850"/>
            <a:ext cx="5610225" cy="2733675"/>
          </a:xfrm>
          <a:prstGeom prst="roundRect">
            <a:avLst>
              <a:gd name="adj" fmla="val 9059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57D86E6C-49BC-408F-8585-2E4B6C8F68CC}"/>
              </a:ext>
            </a:extLst>
          </p:cNvPr>
          <p:cNvSpPr>
            <a:spLocks noGrp="1"/>
          </p:cNvSpPr>
          <p:nvPr/>
        </p:nvSpPr>
        <p:spPr>
          <a:xfrm>
            <a:off x="590550" y="1257300"/>
            <a:ext cx="5229225" cy="266700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 w="9525">
            <a:solidFill>
              <a:srgbClr val="FEF2F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EA96D0D-DB5C-40BD-A388-50C321BFC9D3}"/>
              </a:ext>
            </a:extLst>
          </p:cNvPr>
          <p:cNvSpPr>
            <a:spLocks noGrp="1"/>
          </p:cNvSpPr>
          <p:nvPr/>
        </p:nvSpPr>
        <p:spPr>
          <a:xfrm>
            <a:off x="704850" y="1323975"/>
            <a:ext cx="5000625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t>ROUTING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104B01B-5506-46F7-A02D-778DA871E39A}"/>
              </a:ext>
            </a:extLst>
          </p:cNvPr>
          <p:cNvSpPr>
            <a:spLocks noGrp="1"/>
          </p:cNvSpPr>
          <p:nvPr/>
        </p:nvSpPr>
        <p:spPr>
          <a:xfrm>
            <a:off x="590550" y="1600200"/>
            <a:ext cx="5229225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LLM routing failed: Connection error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6A0CC43-1E4B-472B-B268-A00C09AA9231}"/>
              </a:ext>
            </a:extLst>
          </p:cNvPr>
          <p:cNvSpPr>
            <a:spLocks noGrp="1"/>
          </p:cNvSpPr>
          <p:nvPr/>
        </p:nvSpPr>
        <p:spPr>
          <a:xfrm>
            <a:off x="590550" y="2057400"/>
            <a:ext cx="5229225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проблема</a:t>
            </a:r>
            <a:r>
              <a:rPr dirty="0"/>
              <a:t>: UI </a:t>
            </a:r>
            <a:r>
              <a:rPr dirty="0" err="1"/>
              <a:t>падал</a:t>
            </a:r>
            <a:r>
              <a:rPr dirty="0"/>
              <a:t> </a:t>
            </a:r>
            <a:r>
              <a:rPr dirty="0" err="1"/>
              <a:t>с</a:t>
            </a:r>
            <a:r>
              <a:rPr dirty="0"/>
              <a:t> traceback </a:t>
            </a:r>
            <a:r>
              <a:rPr dirty="0" err="1"/>
              <a:t>вместо</a:t>
            </a:r>
            <a:r>
              <a:rPr dirty="0"/>
              <a:t> </a:t>
            </a:r>
            <a:r>
              <a:rPr dirty="0" err="1"/>
              <a:t>ответа</a:t>
            </a:r>
            <a:r>
              <a:rPr dirty="0"/>
              <a:t>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69B4C80-1711-462A-9207-91A6DFC78F78}"/>
              </a:ext>
            </a:extLst>
          </p:cNvPr>
          <p:cNvSpPr>
            <a:spLocks noGrp="1"/>
          </p:cNvSpPr>
          <p:nvPr/>
        </p:nvSpPr>
        <p:spPr>
          <a:xfrm>
            <a:off x="590550" y="2457450"/>
            <a:ext cx="5229225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причина</a:t>
            </a:r>
            <a:r>
              <a:rPr dirty="0"/>
              <a:t>: Live </a:t>
            </a:r>
            <a:r>
              <a:rPr dirty="0" err="1"/>
              <a:t>OpenRouter-вызов</a:t>
            </a:r>
            <a:r>
              <a:rPr dirty="0"/>
              <a:t> </a:t>
            </a:r>
            <a:r>
              <a:rPr dirty="0" err="1"/>
              <a:t>отваливался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сети</a:t>
            </a:r>
            <a:r>
              <a:rPr dirty="0"/>
              <a:t>, </a:t>
            </a:r>
            <a:r>
              <a:rPr dirty="0" err="1"/>
              <a:t>а</a:t>
            </a:r>
            <a:r>
              <a:rPr dirty="0"/>
              <a:t> </a:t>
            </a:r>
            <a:r>
              <a:rPr dirty="0" err="1"/>
              <a:t>ранний</a:t>
            </a:r>
            <a:r>
              <a:rPr dirty="0"/>
              <a:t> </a:t>
            </a:r>
            <a:r>
              <a:rPr dirty="0" err="1"/>
              <a:t>код</a:t>
            </a:r>
            <a:r>
              <a:rPr dirty="0"/>
              <a:t>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имел</a:t>
            </a:r>
            <a:r>
              <a:rPr dirty="0"/>
              <a:t> </a:t>
            </a:r>
            <a:r>
              <a:rPr dirty="0" err="1"/>
              <a:t>мягкого</a:t>
            </a:r>
            <a:r>
              <a:rPr dirty="0"/>
              <a:t> fallback.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38B27DF-E985-4583-B967-471C45F48E79}"/>
              </a:ext>
            </a:extLst>
          </p:cNvPr>
          <p:cNvSpPr>
            <a:spLocks noGrp="1"/>
          </p:cNvSpPr>
          <p:nvPr/>
        </p:nvSpPr>
        <p:spPr>
          <a:xfrm>
            <a:off x="590550" y="2952750"/>
            <a:ext cx="5229225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исправление </a:t>
            </a:r>
            <a:r>
              <a:rPr dirty="0"/>
              <a:t>: </a:t>
            </a:r>
            <a:r>
              <a:rPr dirty="0" err="1"/>
              <a:t>Добавлен</a:t>
            </a:r>
            <a:r>
              <a:rPr dirty="0"/>
              <a:t> fallback </a:t>
            </a:r>
            <a:r>
              <a:rPr dirty="0" err="1"/>
              <a:t>на</a:t>
            </a:r>
            <a:r>
              <a:rPr dirty="0"/>
              <a:t> demo LLM </a:t>
            </a:r>
            <a:r>
              <a:rPr dirty="0" err="1"/>
              <a:t>для</a:t>
            </a:r>
            <a:r>
              <a:rPr dirty="0"/>
              <a:t> routing, intake, replanning </a:t>
            </a:r>
            <a:r>
              <a:rPr dirty="0" err="1"/>
              <a:t>и</a:t>
            </a:r>
            <a:r>
              <a:rPr dirty="0"/>
              <a:t> final composition.</a:t>
            </a: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E1F5DEA1-DE38-4171-9D41-CD8D09681E2F}"/>
              </a:ext>
            </a:extLst>
          </p:cNvPr>
          <p:cNvSpPr>
            <a:spLocks noGrp="1"/>
          </p:cNvSpPr>
          <p:nvPr/>
        </p:nvSpPr>
        <p:spPr>
          <a:xfrm>
            <a:off x="6181725" y="1085850"/>
            <a:ext cx="5610225" cy="2733675"/>
          </a:xfrm>
          <a:prstGeom prst="roundRect">
            <a:avLst>
              <a:gd name="adj" fmla="val 9059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B1A65A26-11F3-4B75-A275-53FA58109C7C}"/>
              </a:ext>
            </a:extLst>
          </p:cNvPr>
          <p:cNvSpPr>
            <a:spLocks noGrp="1"/>
          </p:cNvSpPr>
          <p:nvPr/>
        </p:nvSpPr>
        <p:spPr>
          <a:xfrm>
            <a:off x="6372225" y="1257300"/>
            <a:ext cx="5229225" cy="26670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3092BCEE-656A-44DC-B561-EF9778C04A2A}"/>
              </a:ext>
            </a:extLst>
          </p:cNvPr>
          <p:cNvSpPr>
            <a:spLocks noGrp="1"/>
          </p:cNvSpPr>
          <p:nvPr/>
        </p:nvSpPr>
        <p:spPr>
          <a:xfrm>
            <a:off x="6486525" y="1323975"/>
            <a:ext cx="5000625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t>PARSER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0EFA931-9406-4DA1-ABA8-098BF63FE487}"/>
              </a:ext>
            </a:extLst>
          </p:cNvPr>
          <p:cNvSpPr>
            <a:spLocks noGrp="1"/>
          </p:cNvSpPr>
          <p:nvPr/>
        </p:nvSpPr>
        <p:spPr>
          <a:xfrm>
            <a:off x="6372225" y="1600200"/>
            <a:ext cx="5229225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Бюджет брался из даты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7A28576-2A93-4C75-8BF3-895E68776C84}"/>
              </a:ext>
            </a:extLst>
          </p:cNvPr>
          <p:cNvSpPr>
            <a:spLocks noGrp="1"/>
          </p:cNvSpPr>
          <p:nvPr/>
        </p:nvSpPr>
        <p:spPr>
          <a:xfrm>
            <a:off x="6372225" y="2057400"/>
            <a:ext cx="5229225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проблема </a:t>
            </a:r>
            <a:r>
              <a:rPr dirty="0"/>
              <a:t>: </a:t>
            </a:r>
            <a:r>
              <a:rPr dirty="0" err="1"/>
              <a:t>Строка</a:t>
            </a:r>
            <a:r>
              <a:rPr dirty="0"/>
              <a:t> 07.07.2026, 1000 </a:t>
            </a:r>
            <a:r>
              <a:rPr dirty="0" err="1"/>
              <a:t>usd</a:t>
            </a:r>
            <a:r>
              <a:rPr dirty="0"/>
              <a:t> </a:t>
            </a:r>
            <a:r>
              <a:rPr dirty="0" err="1"/>
              <a:t>могла</a:t>
            </a:r>
            <a:r>
              <a:rPr dirty="0"/>
              <a:t> </a:t>
            </a:r>
            <a:r>
              <a:rPr dirty="0" err="1"/>
              <a:t>давать</a:t>
            </a:r>
            <a:r>
              <a:rPr dirty="0"/>
              <a:t> budget = 2026.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0316F38-124A-4405-B517-CCE8D40B0A8A}"/>
              </a:ext>
            </a:extLst>
          </p:cNvPr>
          <p:cNvSpPr>
            <a:spLocks noGrp="1"/>
          </p:cNvSpPr>
          <p:nvPr/>
        </p:nvSpPr>
        <p:spPr>
          <a:xfrm>
            <a:off x="6372225" y="2457450"/>
            <a:ext cx="5229225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причина</a:t>
            </a:r>
            <a:r>
              <a:rPr dirty="0"/>
              <a:t>: Fallback-parser </a:t>
            </a:r>
            <a:r>
              <a:rPr dirty="0" err="1"/>
              <a:t>ловил</a:t>
            </a:r>
            <a:r>
              <a:rPr dirty="0"/>
              <a:t> </a:t>
            </a:r>
            <a:r>
              <a:rPr dirty="0" err="1"/>
              <a:t>первое</a:t>
            </a:r>
            <a:r>
              <a:rPr dirty="0"/>
              <a:t> </a:t>
            </a:r>
            <a:r>
              <a:rPr dirty="0" err="1"/>
              <a:t>похожее</a:t>
            </a:r>
            <a:r>
              <a:rPr dirty="0"/>
              <a:t> </a:t>
            </a:r>
            <a:r>
              <a:rPr dirty="0" err="1"/>
              <a:t>число</a:t>
            </a:r>
            <a:r>
              <a:rPr dirty="0"/>
              <a:t>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исключал</a:t>
            </a:r>
            <a:r>
              <a:rPr dirty="0"/>
              <a:t> </a:t>
            </a:r>
            <a:r>
              <a:rPr dirty="0" err="1"/>
              <a:t>дату</a:t>
            </a:r>
            <a:r>
              <a:rPr dirty="0"/>
              <a:t>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117EC3F-594E-4EC3-BCF2-FFD1DAD9CEC3}"/>
              </a:ext>
            </a:extLst>
          </p:cNvPr>
          <p:cNvSpPr>
            <a:spLocks noGrp="1"/>
          </p:cNvSpPr>
          <p:nvPr/>
        </p:nvSpPr>
        <p:spPr>
          <a:xfrm>
            <a:off x="6372225" y="2952750"/>
            <a:ext cx="5229225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исправление</a:t>
            </a:r>
            <a:r>
              <a:rPr dirty="0"/>
              <a:t>: Теперь </a:t>
            </a:r>
            <a:r>
              <a:rPr dirty="0" err="1"/>
              <a:t>бюджет</a:t>
            </a:r>
            <a:r>
              <a:rPr dirty="0"/>
              <a:t> </a:t>
            </a:r>
            <a:r>
              <a:rPr dirty="0" err="1"/>
              <a:t>ищется</a:t>
            </a:r>
            <a:r>
              <a:rPr dirty="0"/>
              <a:t> 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сумма</a:t>
            </a:r>
            <a:r>
              <a:rPr dirty="0"/>
              <a:t> </a:t>
            </a:r>
            <a:r>
              <a:rPr dirty="0" err="1"/>
              <a:t>с</a:t>
            </a:r>
            <a:r>
              <a:rPr dirty="0"/>
              <a:t> </a:t>
            </a:r>
            <a:r>
              <a:rPr dirty="0" err="1"/>
              <a:t>валютой</a:t>
            </a:r>
            <a:r>
              <a:rPr dirty="0"/>
              <a:t>, </a:t>
            </a:r>
            <a:r>
              <a:rPr dirty="0" err="1"/>
              <a:t>а</a:t>
            </a:r>
            <a:r>
              <a:rPr dirty="0"/>
              <a:t> </a:t>
            </a:r>
            <a:r>
              <a:rPr dirty="0" err="1"/>
              <a:t>дата</a:t>
            </a:r>
            <a:r>
              <a:rPr dirty="0"/>
              <a:t> </a:t>
            </a:r>
            <a:r>
              <a:rPr dirty="0" err="1"/>
              <a:t>фильтруется</a:t>
            </a:r>
            <a:r>
              <a:rPr dirty="0"/>
              <a:t> </a:t>
            </a:r>
            <a:r>
              <a:rPr dirty="0" err="1"/>
              <a:t>отдельно</a:t>
            </a:r>
            <a:r>
              <a:rPr dirty="0"/>
              <a:t>.</a:t>
            </a: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398D1782-AECB-4FE1-9F18-E91149BB07DD}"/>
              </a:ext>
            </a:extLst>
          </p:cNvPr>
          <p:cNvSpPr>
            <a:spLocks noGrp="1"/>
          </p:cNvSpPr>
          <p:nvPr/>
        </p:nvSpPr>
        <p:spPr>
          <a:xfrm>
            <a:off x="400050" y="3819525"/>
            <a:ext cx="5610225" cy="2733675"/>
          </a:xfrm>
          <a:prstGeom prst="roundRect">
            <a:avLst>
              <a:gd name="adj" fmla="val 9059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4B12258E-8E80-42EC-B1C2-731A7A320361}"/>
              </a:ext>
            </a:extLst>
          </p:cNvPr>
          <p:cNvSpPr>
            <a:spLocks noGrp="1"/>
          </p:cNvSpPr>
          <p:nvPr/>
        </p:nvSpPr>
        <p:spPr>
          <a:xfrm>
            <a:off x="590550" y="3990975"/>
            <a:ext cx="5229225" cy="2667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D4E5A92A-BD6F-4A2A-8AD2-867D43A165BB}"/>
              </a:ext>
            </a:extLst>
          </p:cNvPr>
          <p:cNvSpPr>
            <a:spLocks noGrp="1"/>
          </p:cNvSpPr>
          <p:nvPr/>
        </p:nvSpPr>
        <p:spPr>
          <a:xfrm>
            <a:off x="704850" y="4057650"/>
            <a:ext cx="5000625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CURRENCY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B62B67A-1FD2-4156-923F-BDB727ABF9A2}"/>
              </a:ext>
            </a:extLst>
          </p:cNvPr>
          <p:cNvSpPr>
            <a:spLocks noGrp="1"/>
          </p:cNvSpPr>
          <p:nvPr/>
        </p:nvSpPr>
        <p:spPr>
          <a:xfrm>
            <a:off x="590550" y="4333875"/>
            <a:ext cx="5229225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Москва + 2000 USD давали пустой Cian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CB046E46-A752-40A0-ACDA-4787FA9E8594}"/>
              </a:ext>
            </a:extLst>
          </p:cNvPr>
          <p:cNvSpPr>
            <a:spLocks noGrp="1"/>
          </p:cNvSpPr>
          <p:nvPr/>
        </p:nvSpPr>
        <p:spPr>
          <a:xfrm>
            <a:off x="590550" y="4791075"/>
            <a:ext cx="5229225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проблема </a:t>
            </a:r>
            <a:r>
              <a:rPr dirty="0"/>
              <a:t>: </a:t>
            </a:r>
            <a:r>
              <a:rPr dirty="0" err="1"/>
              <a:t>Живой</a:t>
            </a:r>
            <a:r>
              <a:rPr dirty="0"/>
              <a:t> provider </a:t>
            </a:r>
            <a:r>
              <a:rPr dirty="0" err="1"/>
              <a:t>отвечал</a:t>
            </a:r>
            <a:r>
              <a:rPr dirty="0"/>
              <a:t> </a:t>
            </a:r>
            <a:r>
              <a:rPr dirty="0" err="1"/>
              <a:t>пусто</a:t>
            </a:r>
            <a:r>
              <a:rPr dirty="0"/>
              <a:t> </a:t>
            </a:r>
            <a:r>
              <a:rPr dirty="0" err="1"/>
              <a:t>даже</a:t>
            </a:r>
            <a:r>
              <a:rPr dirty="0"/>
              <a:t> </a:t>
            </a: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доступном</a:t>
            </a:r>
            <a:r>
              <a:rPr dirty="0"/>
              <a:t> MCP.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5CB1E46C-8415-4CA6-ACAF-9CE00915F2D9}"/>
              </a:ext>
            </a:extLst>
          </p:cNvPr>
          <p:cNvSpPr>
            <a:spLocks noGrp="1"/>
          </p:cNvSpPr>
          <p:nvPr/>
        </p:nvSpPr>
        <p:spPr>
          <a:xfrm>
            <a:off x="590550" y="5191125"/>
            <a:ext cx="5229225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причина</a:t>
            </a:r>
            <a:r>
              <a:rPr dirty="0"/>
              <a:t>: USD-</a:t>
            </a:r>
            <a:r>
              <a:rPr dirty="0" err="1"/>
              <a:t>бюджет</a:t>
            </a:r>
            <a:r>
              <a:rPr dirty="0"/>
              <a:t> </a:t>
            </a:r>
            <a:r>
              <a:rPr dirty="0" err="1"/>
              <a:t>уходил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Cian </a:t>
            </a:r>
            <a:r>
              <a:rPr dirty="0" err="1"/>
              <a:t>как</a:t>
            </a:r>
            <a:r>
              <a:rPr dirty="0"/>
              <a:t> RUB, </a:t>
            </a:r>
            <a:r>
              <a:rPr dirty="0" err="1"/>
              <a:t>потому</a:t>
            </a:r>
            <a:r>
              <a:rPr dirty="0"/>
              <a:t> </a:t>
            </a: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было</a:t>
            </a:r>
            <a:r>
              <a:rPr dirty="0"/>
              <a:t> currency conversion.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2BF405A1-542B-408B-BEA8-63239AB1EB0D}"/>
              </a:ext>
            </a:extLst>
          </p:cNvPr>
          <p:cNvSpPr>
            <a:spLocks noGrp="1"/>
          </p:cNvSpPr>
          <p:nvPr/>
        </p:nvSpPr>
        <p:spPr>
          <a:xfrm>
            <a:off x="590550" y="5686425"/>
            <a:ext cx="5229225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исправление</a:t>
            </a:r>
            <a:r>
              <a:rPr dirty="0"/>
              <a:t>: </a:t>
            </a:r>
            <a:r>
              <a:rPr dirty="0" err="1"/>
              <a:t>Добавлены</a:t>
            </a:r>
            <a:r>
              <a:rPr dirty="0"/>
              <a:t> </a:t>
            </a:r>
            <a:r>
              <a:rPr dirty="0" err="1"/>
              <a:t>budget_currency</a:t>
            </a:r>
            <a:r>
              <a:rPr dirty="0"/>
              <a:t>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конвертация</a:t>
            </a:r>
            <a:r>
              <a:rPr dirty="0"/>
              <a:t> request/result contract.</a:t>
            </a: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C1FF0035-DB76-4953-90CC-A81A582808DA}"/>
              </a:ext>
            </a:extLst>
          </p:cNvPr>
          <p:cNvSpPr>
            <a:spLocks noGrp="1"/>
          </p:cNvSpPr>
          <p:nvPr/>
        </p:nvSpPr>
        <p:spPr>
          <a:xfrm>
            <a:off x="6181725" y="3819525"/>
            <a:ext cx="5610225" cy="2733675"/>
          </a:xfrm>
          <a:prstGeom prst="roundRect">
            <a:avLst>
              <a:gd name="adj" fmla="val 9059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6" name="Скругленный прямоугольник 25">
            <a:extLst>
              <a:ext uri="{FF2B5EF4-FFF2-40B4-BE49-F238E27FC236}">
                <a16:creationId xmlns:a16="http://schemas.microsoft.com/office/drawing/2014/main" id="{0C11DA81-ED7F-47ED-8033-9365C4F401D1}"/>
              </a:ext>
            </a:extLst>
          </p:cNvPr>
          <p:cNvSpPr>
            <a:spLocks noGrp="1"/>
          </p:cNvSpPr>
          <p:nvPr/>
        </p:nvSpPr>
        <p:spPr>
          <a:xfrm>
            <a:off x="6372225" y="3990975"/>
            <a:ext cx="5229225" cy="266700"/>
          </a:xfrm>
          <a:prstGeom prst="roundRect">
            <a:avLst>
              <a:gd name="adj" fmla="val 50000"/>
            </a:avLst>
          </a:prstGeom>
          <a:solidFill>
            <a:srgbClr val="ECFEFF"/>
          </a:solidFill>
          <a:ln w="9525">
            <a:solidFill>
              <a:srgbClr val="ECFEFF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ED3D2CD-9E33-4F11-830C-CD9768B06536}"/>
              </a:ext>
            </a:extLst>
          </p:cNvPr>
          <p:cNvSpPr>
            <a:spLocks noGrp="1"/>
          </p:cNvSpPr>
          <p:nvPr/>
        </p:nvSpPr>
        <p:spPr>
          <a:xfrm>
            <a:off x="6486525" y="4057650"/>
            <a:ext cx="5000625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t>ENV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727F2679-745A-4718-9DEE-7F38E601EF24}"/>
              </a:ext>
            </a:extLst>
          </p:cNvPr>
          <p:cNvSpPr>
            <a:spLocks noGrp="1"/>
          </p:cNvSpPr>
          <p:nvPr/>
        </p:nvSpPr>
        <p:spPr>
          <a:xfrm>
            <a:off x="6372225" y="4333875"/>
            <a:ext cx="5229225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Cian ломался только внутри приложения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D304FC18-185D-4550-8771-34C1FB86BCAA}"/>
              </a:ext>
            </a:extLst>
          </p:cNvPr>
          <p:cNvSpPr>
            <a:spLocks noGrp="1"/>
          </p:cNvSpPr>
          <p:nvPr/>
        </p:nvSpPr>
        <p:spPr>
          <a:xfrm>
            <a:off x="6372225" y="4791075"/>
            <a:ext cx="5229225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проблема </a:t>
            </a:r>
            <a:r>
              <a:rPr dirty="0"/>
              <a:t>: </a:t>
            </a:r>
            <a:r>
              <a:rPr dirty="0" err="1"/>
              <a:t>Изолированный</a:t>
            </a:r>
            <a:r>
              <a:rPr dirty="0"/>
              <a:t> search </a:t>
            </a:r>
            <a:r>
              <a:rPr dirty="0" err="1"/>
              <a:t>работал</a:t>
            </a:r>
            <a:r>
              <a:rPr dirty="0"/>
              <a:t>, </a:t>
            </a:r>
            <a:r>
              <a:rPr dirty="0" err="1"/>
              <a:t>а</a:t>
            </a:r>
            <a:r>
              <a:rPr dirty="0"/>
              <a:t> </a:t>
            </a:r>
            <a:r>
              <a:rPr dirty="0" err="1"/>
              <a:t>полный</a:t>
            </a:r>
            <a:r>
              <a:rPr dirty="0"/>
              <a:t> graph </a:t>
            </a:r>
            <a:r>
              <a:rPr dirty="0" err="1"/>
              <a:t>ловил</a:t>
            </a:r>
            <a:r>
              <a:rPr dirty="0"/>
              <a:t> </a:t>
            </a:r>
            <a:r>
              <a:rPr dirty="0" err="1"/>
              <a:t>ConnectError</a:t>
            </a:r>
            <a:r>
              <a:rPr dirty="0"/>
              <a:t>.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5EC23584-2C19-4E2B-A0F1-FA856B966A72}"/>
              </a:ext>
            </a:extLst>
          </p:cNvPr>
          <p:cNvSpPr>
            <a:spLocks noGrp="1"/>
          </p:cNvSpPr>
          <p:nvPr/>
        </p:nvSpPr>
        <p:spPr>
          <a:xfrm>
            <a:off x="6372225" y="5191125"/>
            <a:ext cx="5229225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причина</a:t>
            </a:r>
            <a:r>
              <a:rPr dirty="0"/>
              <a:t>: </a:t>
            </a:r>
            <a:r>
              <a:rPr dirty="0" err="1"/>
              <a:t>GraphDependencies</a:t>
            </a:r>
            <a:r>
              <a:rPr dirty="0"/>
              <a:t> </a:t>
            </a:r>
            <a:r>
              <a:rPr dirty="0" err="1"/>
              <a:t>подхватывал</a:t>
            </a:r>
            <a:r>
              <a:rPr dirty="0"/>
              <a:t> </a:t>
            </a:r>
            <a:r>
              <a:rPr dirty="0" err="1"/>
              <a:t>домашний</a:t>
            </a:r>
            <a:r>
              <a:rPr dirty="0"/>
              <a:t> .env </a:t>
            </a:r>
            <a:r>
              <a:rPr dirty="0" err="1"/>
              <a:t>с</a:t>
            </a:r>
            <a:r>
              <a:rPr dirty="0"/>
              <a:t> </a:t>
            </a:r>
            <a:r>
              <a:rPr dirty="0" err="1"/>
              <a:t>битым</a:t>
            </a:r>
            <a:r>
              <a:rPr dirty="0"/>
              <a:t> proxy </a:t>
            </a:r>
            <a:r>
              <a:rPr dirty="0" err="1"/>
              <a:t>вместо</a:t>
            </a:r>
            <a:r>
              <a:rPr dirty="0"/>
              <a:t> </a:t>
            </a:r>
            <a:r>
              <a:rPr dirty="0" err="1"/>
              <a:t>проектного</a:t>
            </a:r>
            <a:r>
              <a:rPr dirty="0"/>
              <a:t>.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E16CD19-09C7-4B99-B009-13407B1ECF6E}"/>
              </a:ext>
            </a:extLst>
          </p:cNvPr>
          <p:cNvSpPr>
            <a:spLocks noGrp="1"/>
          </p:cNvSpPr>
          <p:nvPr/>
        </p:nvSpPr>
        <p:spPr>
          <a:xfrm>
            <a:off x="6372225" y="5686425"/>
            <a:ext cx="5229225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исправление</a:t>
            </a:r>
            <a:r>
              <a:rPr dirty="0"/>
              <a:t>: </a:t>
            </a:r>
            <a:r>
              <a:rPr dirty="0" err="1"/>
              <a:t>Чтение</a:t>
            </a:r>
            <a:r>
              <a:rPr dirty="0"/>
              <a:t> .env </a:t>
            </a:r>
            <a:r>
              <a:rPr dirty="0" err="1"/>
              <a:t>ограничено</a:t>
            </a:r>
            <a:r>
              <a:rPr dirty="0"/>
              <a:t> </a:t>
            </a:r>
            <a:r>
              <a:rPr dirty="0" err="1"/>
              <a:t>локальным</a:t>
            </a:r>
            <a:r>
              <a:rPr dirty="0"/>
              <a:t> </a:t>
            </a:r>
            <a:r>
              <a:rPr dirty="0" err="1"/>
              <a:t>проектом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66931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17404734-39C7-48F3-B464-AE444CBB03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E73EF94-DA51-41CB-9F63-ED2668B100EE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CONCLUSION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57CD064-3290-4BD6-8C0E-A60D244AA400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13919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Что важно вынести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F4ED401A-D218-4707-8CF4-8086CC9F8F5F}"/>
              </a:ext>
            </a:extLst>
          </p:cNvPr>
          <p:cNvSpPr>
            <a:spLocks noGrp="1"/>
          </p:cNvSpPr>
          <p:nvPr/>
        </p:nvSpPr>
        <p:spPr>
          <a:xfrm>
            <a:off x="400050" y="1085850"/>
            <a:ext cx="2747963" cy="1695450"/>
          </a:xfrm>
          <a:prstGeom prst="roundRect">
            <a:avLst>
              <a:gd name="adj" fmla="val 14607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CC7D88F2-C117-44F3-99C0-4542CEE7F348}"/>
              </a:ext>
            </a:extLst>
          </p:cNvPr>
          <p:cNvSpPr>
            <a:spLocks noGrp="1"/>
          </p:cNvSpPr>
          <p:nvPr/>
        </p:nvSpPr>
        <p:spPr>
          <a:xfrm>
            <a:off x="590550" y="1257300"/>
            <a:ext cx="2366963" cy="2667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8A729BC-4E67-481D-8917-3C5CD0497F0D}"/>
              </a:ext>
            </a:extLst>
          </p:cNvPr>
          <p:cNvSpPr>
            <a:spLocks noGrp="1"/>
          </p:cNvSpPr>
          <p:nvPr/>
        </p:nvSpPr>
        <p:spPr>
          <a:xfrm>
            <a:off x="704850" y="1323975"/>
            <a:ext cx="2138363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1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0246144-58CE-4E89-A4AE-F1B2224349F9}"/>
              </a:ext>
            </a:extLst>
          </p:cNvPr>
          <p:cNvSpPr>
            <a:spLocks noGrp="1"/>
          </p:cNvSpPr>
          <p:nvPr/>
        </p:nvSpPr>
        <p:spPr>
          <a:xfrm>
            <a:off x="590550" y="1600200"/>
            <a:ext cx="2366963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Агентность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D956587-9AF9-4215-B15C-C786F14AC6D4}"/>
              </a:ext>
            </a:extLst>
          </p:cNvPr>
          <p:cNvSpPr>
            <a:spLocks noGrp="1"/>
          </p:cNvSpPr>
          <p:nvPr/>
        </p:nvSpPr>
        <p:spPr>
          <a:xfrm>
            <a:off x="590550" y="1924050"/>
            <a:ext cx="2366963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роли, память, replanning, verifier</a:t>
            </a: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6C1BD84D-A7F7-4007-811F-C5A0CBFD57C5}"/>
              </a:ext>
            </a:extLst>
          </p:cNvPr>
          <p:cNvSpPr>
            <a:spLocks noGrp="1"/>
          </p:cNvSpPr>
          <p:nvPr/>
        </p:nvSpPr>
        <p:spPr>
          <a:xfrm>
            <a:off x="3281363" y="1085850"/>
            <a:ext cx="2747963" cy="1695450"/>
          </a:xfrm>
          <a:prstGeom prst="roundRect">
            <a:avLst>
              <a:gd name="adj" fmla="val 14607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46B40F52-E4DF-41BE-9F49-2BF2CF318BB5}"/>
              </a:ext>
            </a:extLst>
          </p:cNvPr>
          <p:cNvSpPr>
            <a:spLocks noGrp="1"/>
          </p:cNvSpPr>
          <p:nvPr/>
        </p:nvSpPr>
        <p:spPr>
          <a:xfrm>
            <a:off x="3471863" y="1257300"/>
            <a:ext cx="2366963" cy="266700"/>
          </a:xfrm>
          <a:prstGeom prst="roundRect">
            <a:avLst>
              <a:gd name="adj" fmla="val 50000"/>
            </a:avLst>
          </a:prstGeom>
          <a:solidFill>
            <a:srgbClr val="ECFEFF"/>
          </a:solidFill>
          <a:ln w="9525">
            <a:solidFill>
              <a:srgbClr val="ECFEFF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E8F7F37-8574-4199-B7AA-03EF4E60DAA3}"/>
              </a:ext>
            </a:extLst>
          </p:cNvPr>
          <p:cNvSpPr>
            <a:spLocks noGrp="1"/>
          </p:cNvSpPr>
          <p:nvPr/>
        </p:nvSpPr>
        <p:spPr>
          <a:xfrm>
            <a:off x="3586163" y="1323975"/>
            <a:ext cx="2138363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t>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0F598A9-A95B-4947-BDA7-8050CCD763F4}"/>
              </a:ext>
            </a:extLst>
          </p:cNvPr>
          <p:cNvSpPr>
            <a:spLocks noGrp="1"/>
          </p:cNvSpPr>
          <p:nvPr/>
        </p:nvSpPr>
        <p:spPr>
          <a:xfrm>
            <a:off x="3471863" y="1600200"/>
            <a:ext cx="2366963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Воспроизводимость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843B0D82-D753-4D48-A74F-D17A696AE8CC}"/>
              </a:ext>
            </a:extLst>
          </p:cNvPr>
          <p:cNvSpPr>
            <a:spLocks noGrp="1"/>
          </p:cNvSpPr>
          <p:nvPr/>
        </p:nvSpPr>
        <p:spPr>
          <a:xfrm>
            <a:off x="3471863" y="1924050"/>
            <a:ext cx="2366963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demo_stub, локальная БД, QA runner, trace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7F1E2A56-B1FD-4C5E-8ACA-D15B65A90B59}"/>
              </a:ext>
            </a:extLst>
          </p:cNvPr>
          <p:cNvSpPr>
            <a:spLocks noGrp="1"/>
          </p:cNvSpPr>
          <p:nvPr/>
        </p:nvSpPr>
        <p:spPr>
          <a:xfrm>
            <a:off x="6162675" y="1085850"/>
            <a:ext cx="2747963" cy="1695450"/>
          </a:xfrm>
          <a:prstGeom prst="roundRect">
            <a:avLst>
              <a:gd name="adj" fmla="val 14607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9E6EB722-5693-4E62-96A6-BE62343D2626}"/>
              </a:ext>
            </a:extLst>
          </p:cNvPr>
          <p:cNvSpPr>
            <a:spLocks noGrp="1"/>
          </p:cNvSpPr>
          <p:nvPr/>
        </p:nvSpPr>
        <p:spPr>
          <a:xfrm>
            <a:off x="6353175" y="1257300"/>
            <a:ext cx="2366963" cy="26670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F4DBEB3-ECF4-4A5E-B7FC-A5EFBB18A1BE}"/>
              </a:ext>
            </a:extLst>
          </p:cNvPr>
          <p:cNvSpPr>
            <a:spLocks noGrp="1"/>
          </p:cNvSpPr>
          <p:nvPr/>
        </p:nvSpPr>
        <p:spPr>
          <a:xfrm>
            <a:off x="6467475" y="1323975"/>
            <a:ext cx="2138363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714838B-3548-4274-8E51-7D240BB8416D}"/>
              </a:ext>
            </a:extLst>
          </p:cNvPr>
          <p:cNvSpPr>
            <a:spLocks noGrp="1"/>
          </p:cNvSpPr>
          <p:nvPr/>
        </p:nvSpPr>
        <p:spPr>
          <a:xfrm>
            <a:off x="6353175" y="1600200"/>
            <a:ext cx="2366963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Safety boundary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DDE044DC-D3A6-4CC2-8CD3-A7495689C138}"/>
              </a:ext>
            </a:extLst>
          </p:cNvPr>
          <p:cNvSpPr>
            <a:spLocks noGrp="1"/>
          </p:cNvSpPr>
          <p:nvPr/>
        </p:nvSpPr>
        <p:spPr>
          <a:xfrm>
            <a:off x="6353175" y="1924050"/>
            <a:ext cx="2366963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clarification и escalation вместо ложной уверенности</a:t>
            </a: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5CFEFB0-91BC-4ED1-8B25-F8B5D6F6CB0C}"/>
              </a:ext>
            </a:extLst>
          </p:cNvPr>
          <p:cNvSpPr>
            <a:spLocks noGrp="1"/>
          </p:cNvSpPr>
          <p:nvPr/>
        </p:nvSpPr>
        <p:spPr>
          <a:xfrm>
            <a:off x="9043988" y="1085850"/>
            <a:ext cx="2747963" cy="1695450"/>
          </a:xfrm>
          <a:prstGeom prst="roundRect">
            <a:avLst>
              <a:gd name="adj" fmla="val 14607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0" name="Скругленный прямоугольник 19">
            <a:extLst>
              <a:ext uri="{FF2B5EF4-FFF2-40B4-BE49-F238E27FC236}">
                <a16:creationId xmlns:a16="http://schemas.microsoft.com/office/drawing/2014/main" id="{B56B5141-170C-46CA-B870-149D5F94473D}"/>
              </a:ext>
            </a:extLst>
          </p:cNvPr>
          <p:cNvSpPr>
            <a:spLocks noGrp="1"/>
          </p:cNvSpPr>
          <p:nvPr/>
        </p:nvSpPr>
        <p:spPr>
          <a:xfrm>
            <a:off x="9234488" y="1257300"/>
            <a:ext cx="2366963" cy="266700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 w="9525">
            <a:solidFill>
              <a:srgbClr val="FEF2F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C7C652A4-45AC-42CF-B84F-B1817FF61531}"/>
              </a:ext>
            </a:extLst>
          </p:cNvPr>
          <p:cNvSpPr>
            <a:spLocks noGrp="1"/>
          </p:cNvSpPr>
          <p:nvPr/>
        </p:nvSpPr>
        <p:spPr>
          <a:xfrm>
            <a:off x="9348788" y="1323975"/>
            <a:ext cx="2138363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t>4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501EF1D1-D239-4CD6-B4BC-F6F5868EB76D}"/>
              </a:ext>
            </a:extLst>
          </p:cNvPr>
          <p:cNvSpPr>
            <a:spLocks noGrp="1"/>
          </p:cNvSpPr>
          <p:nvPr/>
        </p:nvSpPr>
        <p:spPr>
          <a:xfrm>
            <a:off x="9234488" y="1600200"/>
            <a:ext cx="2366963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Расширяемость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9530EF7F-0BBE-4B6E-8F98-73A81C15AE17}"/>
              </a:ext>
            </a:extLst>
          </p:cNvPr>
          <p:cNvSpPr>
            <a:spLocks noGrp="1"/>
          </p:cNvSpPr>
          <p:nvPr/>
        </p:nvSpPr>
        <p:spPr>
          <a:xfrm>
            <a:off x="9234488" y="1924050"/>
            <a:ext cx="2366963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typed tools и config-driven путь для MCP</a:t>
            </a: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C0D073E-1AF5-4A9C-A344-0206B0979A9D}"/>
              </a:ext>
            </a:extLst>
          </p:cNvPr>
          <p:cNvSpPr>
            <a:spLocks noGrp="1"/>
          </p:cNvSpPr>
          <p:nvPr/>
        </p:nvSpPr>
        <p:spPr>
          <a:xfrm>
            <a:off x="400050" y="2952750"/>
            <a:ext cx="3429000" cy="3600450"/>
          </a:xfrm>
          <a:prstGeom prst="roundRect">
            <a:avLst>
              <a:gd name="adj" fmla="val 7222"/>
            </a:avLst>
          </a:prstGeom>
          <a:solidFill>
            <a:srgbClr val="EFF6FF"/>
          </a:solidFill>
          <a:ln w="9525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3325E5D-997C-4140-924F-B2940B6183D0}"/>
              </a:ext>
            </a:extLst>
          </p:cNvPr>
          <p:cNvSpPr>
            <a:spLocks noGrp="1"/>
          </p:cNvSpPr>
          <p:nvPr/>
        </p:nvSpPr>
        <p:spPr>
          <a:xfrm>
            <a:off x="590550" y="3124200"/>
            <a:ext cx="30480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Возможные улучшения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E8F24F6D-887B-4BF8-8133-00513A2945C1}"/>
              </a:ext>
            </a:extLst>
          </p:cNvPr>
          <p:cNvSpPr>
            <a:spLocks noGrp="1"/>
          </p:cNvSpPr>
          <p:nvPr/>
        </p:nvSpPr>
        <p:spPr>
          <a:xfrm>
            <a:off x="590550" y="3524250"/>
            <a:ext cx="3048000" cy="1047750"/>
          </a:xfrm>
          <a:prstGeom prst="rect">
            <a:avLst/>
          </a:prstGeom>
        </p:spPr>
        <p:txBody>
          <a:bodyPr lIns="0" tIns="0" rIns="0" bIns="0"/>
          <a:lstStyle/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SSO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en" dirty="0"/>
              <a:t>O</a:t>
            </a:r>
            <a:r>
              <a:rPr dirty="0" err="1"/>
              <a:t>bservability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дополнительные </a:t>
            </a:r>
            <a:r>
              <a:rPr dirty="0"/>
              <a:t>MCP</a:t>
            </a: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8478E949-8201-47C4-A7FC-88B72A5B0E4E}"/>
              </a:ext>
            </a:extLst>
          </p:cNvPr>
          <p:cNvSpPr>
            <a:spLocks noGrp="1"/>
          </p:cNvSpPr>
          <p:nvPr/>
        </p:nvSpPr>
        <p:spPr>
          <a:xfrm>
            <a:off x="4000500" y="2952750"/>
            <a:ext cx="7791450" cy="3600450"/>
          </a:xfrm>
          <a:prstGeom prst="roundRect">
            <a:avLst>
              <a:gd name="adj" fmla="val 6878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1700FE2A-7933-4D87-982B-E145E7DBB773}"/>
              </a:ext>
            </a:extLst>
          </p:cNvPr>
          <p:cNvSpPr>
            <a:spLocks noGrp="1"/>
          </p:cNvSpPr>
          <p:nvPr/>
        </p:nvSpPr>
        <p:spPr>
          <a:xfrm>
            <a:off x="4191000" y="3124200"/>
            <a:ext cx="74104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Главный тезис для защиты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6A5F8A0-5FE4-44F0-B961-038BB249754E}"/>
              </a:ext>
            </a:extLst>
          </p:cNvPr>
          <p:cNvSpPr>
            <a:spLocks noGrp="1"/>
          </p:cNvSpPr>
          <p:nvPr/>
        </p:nvSpPr>
        <p:spPr>
          <a:xfrm>
            <a:off x="4191000" y="3429000"/>
            <a:ext cx="7410450" cy="8382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Проект уже показывает базовые признаки агента: он понимает намерение, хранит контекст, вызывает инструменты, может пересобрать решение и умеет остановиться, когда автоматизация небезопасна.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00E0E6F5-30F7-416F-8958-B8A69171A8AC}"/>
              </a:ext>
            </a:extLst>
          </p:cNvPr>
          <p:cNvSpPr>
            <a:spLocks noGrp="1"/>
          </p:cNvSpPr>
          <p:nvPr/>
        </p:nvSpPr>
        <p:spPr>
          <a:xfrm>
            <a:off x="4191000" y="4343400"/>
            <a:ext cx="74104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Главная ценность здесь - в управляемом workflow, а не в одном сильном prompt.</a:t>
            </a:r>
          </a:p>
        </p:txBody>
      </p:sp>
    </p:spTree>
    <p:extLst>
      <p:ext uri="{BB962C8B-B14F-4D97-AF65-F5344CB8AC3E}">
        <p14:creationId xmlns:p14="http://schemas.microsoft.com/office/powerpoint/2010/main" val="159000474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1169</Words>
  <Application>Microsoft Macintosh PowerPoint</Application>
  <DocSecurity>0</DocSecurity>
  <PresentationFormat>Широкоэкранный</PresentationFormat>
  <Paragraphs>210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3" baseType="lpstr">
      <vt:lpstr>Arial</vt:lpstr>
      <vt:lpstr>Calibri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iopogiba</cp:lastModifiedBy>
  <cp:revision>18</cp:revision>
  <dcterms:created xsi:type="dcterms:W3CDTF">2026-06-15T13:13:41Z</dcterms:created>
  <dcterms:modified xsi:type="dcterms:W3CDTF">2026-06-15T13:27:38Z</dcterms:modified>
</cp:coreProperties>
</file>