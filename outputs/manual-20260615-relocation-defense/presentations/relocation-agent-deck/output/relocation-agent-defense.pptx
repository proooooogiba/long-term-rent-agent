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5a4a5a19bf4e39" /><Relationship Type="http://schemas.openxmlformats.org/officeDocument/2006/relationships/extended-properties" Target="/docProps/app.xml" Id="R73d5b568272b4822" /><Relationship Type="http://schemas.openxmlformats.org/officeDocument/2006/relationships/officeDocument" Target="/ppt/presentation.xml" Id="R74c9ce647260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78c7fe06d74dfc"/>
  </p:sldMasterIdLst>
  <p:notesMasterIdLst>
    <p:notesMasterId xmlns:r="http://schemas.openxmlformats.org/officeDocument/2006/relationships" r:id="R05e31cad51b24e45"/>
  </p:notesMasterIdLst>
  <p:sldIdLst>
    <p:sldId xmlns:r="http://schemas.openxmlformats.org/officeDocument/2006/relationships" id="256" r:id="R54faa884bf794d5b"/>
    <p:sldId xmlns:r="http://schemas.openxmlformats.org/officeDocument/2006/relationships" id="257" r:id="R37a5ebe87c32413f"/>
    <p:sldId xmlns:r="http://schemas.openxmlformats.org/officeDocument/2006/relationships" id="258" r:id="R5ae47e4d01d74fee"/>
    <p:sldId xmlns:r="http://schemas.openxmlformats.org/officeDocument/2006/relationships" id="259" r:id="Rc999dcc57f084ef7"/>
    <p:sldId xmlns:r="http://schemas.openxmlformats.org/officeDocument/2006/relationships" id="260" r:id="Rf6fdd2d7c990416d"/>
    <p:sldId xmlns:r="http://schemas.openxmlformats.org/officeDocument/2006/relationships" id="261" r:id="R37720124a7814420"/>
    <p:sldId xmlns:r="http://schemas.openxmlformats.org/officeDocument/2006/relationships" id="262" r:id="R2f378d53d31940c4"/>
    <p:sldId xmlns:r="http://schemas.openxmlformats.org/officeDocument/2006/relationships" id="263" r:id="R089dc827c480438c"/>
    <p:sldId xmlns:r="http://schemas.openxmlformats.org/officeDocument/2006/relationships" id="264" r:id="R73f661b16c9748ea"/>
    <p:sldId xmlns:r="http://schemas.openxmlformats.org/officeDocument/2006/relationships" id="265" r:id="R43644c9b583d43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733c7b30644170" /><Relationship Type="http://schemas.openxmlformats.org/officeDocument/2006/relationships/slideMaster" Target="/ppt/slideMasters/slideMaster1.xml" Id="Rac78c7fe06d74dfc" /><Relationship Type="http://schemas.openxmlformats.org/officeDocument/2006/relationships/notesMaster" Target="/ppt/notesMasters/notesMaster1.xml" Id="R05e31cad51b24e45" /><Relationship Type="http://schemas.openxmlformats.org/officeDocument/2006/relationships/presProps" Target="/ppt/presProps.xml" Id="R0597197a7f8f4476" /><Relationship Type="http://schemas.openxmlformats.org/officeDocument/2006/relationships/tableStyles" Target="/ppt/tableStyles.xml" Id="Re9e8d013394c4532" /><Relationship Type="http://schemas.openxmlformats.org/officeDocument/2006/relationships/slide" Target="/ppt/slides/slide1.xml" Id="R54faa884bf794d5b" /><Relationship Type="http://schemas.openxmlformats.org/officeDocument/2006/relationships/slide" Target="/ppt/slides/slide2.xml" Id="R37a5ebe87c32413f" /><Relationship Type="http://schemas.openxmlformats.org/officeDocument/2006/relationships/slide" Target="/ppt/slides/slide3.xml" Id="R5ae47e4d01d74fee" /><Relationship Type="http://schemas.openxmlformats.org/officeDocument/2006/relationships/slide" Target="/ppt/slides/slide4.xml" Id="Rc999dcc57f084ef7" /><Relationship Type="http://schemas.openxmlformats.org/officeDocument/2006/relationships/slide" Target="/ppt/slides/slide5.xml" Id="Rf6fdd2d7c990416d" /><Relationship Type="http://schemas.openxmlformats.org/officeDocument/2006/relationships/slide" Target="/ppt/slides/slide6.xml" Id="R37720124a7814420" /><Relationship Type="http://schemas.openxmlformats.org/officeDocument/2006/relationships/slide" Target="/ppt/slides/slide7.xml" Id="R2f378d53d31940c4" /><Relationship Type="http://schemas.openxmlformats.org/officeDocument/2006/relationships/slide" Target="/ppt/slides/slide8.xml" Id="R089dc827c480438c" /><Relationship Type="http://schemas.openxmlformats.org/officeDocument/2006/relationships/slide" Target="/ppt/slides/slide9.xml" Id="R73f661b16c9748ea" /><Relationship Type="http://schemas.openxmlformats.org/officeDocument/2006/relationships/slide" Target="/ppt/slides/slide10.xml" Id="R43644c9b583d43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6fb0e84ffe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6e0fc328f4548" /><Relationship Type="http://schemas.openxmlformats.org/officeDocument/2006/relationships/notesMaster" Target="/ppt/notesMasters/notesMaster1.xml" Id="Rbbc5047e30814a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d72fbfa94b479c" /><Relationship Type="http://schemas.openxmlformats.org/officeDocument/2006/relationships/notesMaster" Target="/ppt/notesMasters/notesMaster1.xml" Id="R012189220a9744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2c901daa54e7b" /><Relationship Type="http://schemas.openxmlformats.org/officeDocument/2006/relationships/notesMaster" Target="/ppt/notesMasters/notesMaster1.xml" Id="Rcddb7ff76f0a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f6ac1137fc4bde" /><Relationship Type="http://schemas.openxmlformats.org/officeDocument/2006/relationships/notesMaster" Target="/ppt/notesMasters/notesMaster1.xml" Id="Ra60c382b7f124f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76689907e84b7a" /><Relationship Type="http://schemas.openxmlformats.org/officeDocument/2006/relationships/notesMaster" Target="/ppt/notesMasters/notesMaster1.xml" Id="R4b8c7574d21c4f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0cb4030e644d50" /><Relationship Type="http://schemas.openxmlformats.org/officeDocument/2006/relationships/notesMaster" Target="/ppt/notesMasters/notesMaster1.xml" Id="R81ce17049bc647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1c5778a4904b44" /><Relationship Type="http://schemas.openxmlformats.org/officeDocument/2006/relationships/notesMaster" Target="/ppt/notesMasters/notesMaster1.xml" Id="R3d1a6591392e40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1e574f1a4f46aa" /><Relationship Type="http://schemas.openxmlformats.org/officeDocument/2006/relationships/notesMaster" Target="/ppt/notesMasters/notesMaster1.xml" Id="R72d01f130b9643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22abe19a524246" /><Relationship Type="http://schemas.openxmlformats.org/officeDocument/2006/relationships/notesMaster" Target="/ppt/notesMasters/notesMaster1.xml" Id="Rb498f74cf6ba42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7d65983af64e55" /><Relationship Type="http://schemas.openxmlformats.org/officeDocument/2006/relationships/notesMaster" Target="/ppt/notesMasters/notesMaster1.xml" Id="Reb3e5a172db54f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ae8c96ce54a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15c2337204323" /><Relationship Type="http://schemas.openxmlformats.org/officeDocument/2006/relationships/slideLayout" Target="/ppt/slideLayouts/slideLayout1.xml" Id="R335059446253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059446253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95585d4ed4497" /><Relationship Type="http://schemas.openxmlformats.org/officeDocument/2006/relationships/image" Target="/ppt/media/image.png" Id="R93ef4c757fa04421" /><Relationship Type="http://schemas.openxmlformats.org/officeDocument/2006/relationships/notesSlide" Target="/ppt/notesSlides/notesSlide1.xml" Id="R1c2a43c0bfb64f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7dbd636644ea0" /><Relationship Type="http://schemas.openxmlformats.org/officeDocument/2006/relationships/notesSlide" Target="/ppt/notesSlides/notesSlide2.xml" Id="R6a401d79e1234e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03b24be7d413a" /><Relationship Type="http://schemas.openxmlformats.org/officeDocument/2006/relationships/image" Target="/ppt/media/image2.png" Id="Rb80deb23467c4991" /><Relationship Type="http://schemas.openxmlformats.org/officeDocument/2006/relationships/notesSlide" Target="/ppt/notesSlides/notesSlide3.xml" Id="R26e9096fa5864c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cb2875a164ce3" /><Relationship Type="http://schemas.openxmlformats.org/officeDocument/2006/relationships/image" Target="/ppt/media/image3.png" Id="Rc2e06afa90d943ba" /><Relationship Type="http://schemas.openxmlformats.org/officeDocument/2006/relationships/notesSlide" Target="/ppt/notesSlides/notesSlide4.xml" Id="Rb061c541c26649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28bb221624ece" /><Relationship Type="http://schemas.openxmlformats.org/officeDocument/2006/relationships/image" Target="/ppt/media/image4.png" Id="R2fc4d17ac5ee49d1" /><Relationship Type="http://schemas.openxmlformats.org/officeDocument/2006/relationships/notesSlide" Target="/ppt/notesSlides/notesSlide5.xml" Id="R77a183a4a1bf46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4e91d6ba845b2" /><Relationship Type="http://schemas.openxmlformats.org/officeDocument/2006/relationships/image" Target="/ppt/media/image.jpeg" Id="R3a218269aada4c30" /><Relationship Type="http://schemas.openxmlformats.org/officeDocument/2006/relationships/image" Target="/ppt/media/image2.jpeg" Id="Re215bda9e8c246d4" /><Relationship Type="http://schemas.openxmlformats.org/officeDocument/2006/relationships/image" Target="/ppt/media/image3.jpeg" Id="R04a21c7b08e44fee" /><Relationship Type="http://schemas.openxmlformats.org/officeDocument/2006/relationships/notesSlide" Target="/ppt/notesSlides/notesSlide6.xml" Id="R436c12fb20e2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bf486320a4987" /><Relationship Type="http://schemas.openxmlformats.org/officeDocument/2006/relationships/notesSlide" Target="/ppt/notesSlides/notesSlide7.xml" Id="R6120acc48c5e45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06e83950f41a0" /><Relationship Type="http://schemas.openxmlformats.org/officeDocument/2006/relationships/image" Target="/ppt/media/image5.png" Id="R797765b9c6c64562" /><Relationship Type="http://schemas.openxmlformats.org/officeDocument/2006/relationships/notesSlide" Target="/ppt/notesSlides/notesSlide8.xml" Id="R86aa71d4e24b47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dcd19fc6449ec" /><Relationship Type="http://schemas.openxmlformats.org/officeDocument/2006/relationships/notesSlide" Target="/ppt/notesSlides/notesSlide9.xml" Id="R6d4fb426975045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de18add444f5" /><Relationship Type="http://schemas.openxmlformats.org/officeDocument/2006/relationships/notesSlide" Target="/ppt/notesSlides/notesSlide10.xml" Id="R9f32d4e38c0c48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A542AC-BE38-4F78-BA1C-046A68A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A4843-98C7-450E-BFE8-3B65CF98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ФИНАЛЬНАЯ РАБОТА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49CBA-B2C4-4932-919D-81302ACD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Агент подбора аренды и релокации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33BE6-8033-446D-AB79-0A4FD82A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7181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DAD3B-D15B-4E8D-B99A-300BDA44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69532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ЧТО ПОКАЗЫВАЕМ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E7E6-970E-4C3B-8515-B65334D5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181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Как показать именно агента, а не просто хороший чат?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98521-BB37-48CF-BE2C-95DE465D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181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Смотрим не только на финальный ответ, а на весь управляемый путь: от понимания кейса до безопасного human handoff.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65CF7-A537-4DD9-9AFB-84E7863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3533775" cy="118110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0CB31-A9C3-4458-9DD0-4712B7A4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32289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C7F9-787F-4502-9DA9-8EC627D9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300037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ПОДБОР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4E177-AEE1-438C-B780-E5D56E0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2289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Подбор под кейс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E458E-39F7-4685-92EC-EFDF98E3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32289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Город, бюджет, семья, питомцы и commute.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1D3FB-56D7-4DD8-B3B6-1F465D46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62300"/>
            <a:ext cx="3533775" cy="118110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37F54-6921-4958-8662-CF9204A1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95650"/>
            <a:ext cx="32289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5DD26-E87A-4118-A800-9B1C4352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62325"/>
            <a:ext cx="300037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ПАМЯТЬ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9A9C2-9F45-4234-A801-8C67AFDC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638550"/>
            <a:ext cx="32289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Память между запусками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ABCBC-1A3D-4290-8FCE-0D08FFE0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81450"/>
            <a:ext cx="32289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Новый run помнит прошлый shortlist.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42952-D529-4758-8667-B1772D09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533775" cy="118110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DB2B7-BAFF-4D63-B4B7-1694179A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32289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84930-62EF-4CE8-9942-238CC05E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300037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БЕЗОПАСНОСТЬ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FD533-640C-460F-A600-74A477DF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32289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Безопасная остановка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ADDFA-632D-4B9E-93FD-0E48CE8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32289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Риск идёт в clarification или handoff.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B82D2-8C9A-450A-979A-255A5DE5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43400"/>
            <a:ext cx="3533775" cy="118110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BFCEA-F849-4D21-9C86-3F01835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76750"/>
            <a:ext cx="32289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F2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C321B-07F5-4DB2-A4A7-A9C0BBF8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43425"/>
            <a:ext cx="300037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ИНТЕГРАЦИИ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7D02F-34C4-4C29-A9E5-6A8CC92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19650"/>
            <a:ext cx="32289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Live-источники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B6496-F43F-46F6-8338-620578D2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62550"/>
            <a:ext cx="32289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MCP даёт свежие карточки, fallback остаётся локальным.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49D7C7-6309-4A64-81B7-87C78249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7181850" cy="895350"/>
          </a:xfrm>
          <a:prstGeom xmlns:a="http://schemas.openxmlformats.org/drawingml/2006/main" prst="roundRect">
            <a:avLst>
              <a:gd name="adj" fmla="val 2766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91C77-91AA-4579-BFC7-74758800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6800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 кейс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B9BC8-52D5-46E4-AA30-4BD2018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6800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1 run = shortlist + объяснение + guardrails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E00AD3-631F-4291-BB25-C2376D2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85850"/>
            <a:ext cx="4000500" cy="3162300"/>
          </a:xfrm>
          <a:prstGeom xmlns:a="http://schemas.openxmlformats.org/drawingml/2006/main" prst="roundRect">
            <a:avLst>
              <a:gd name="adj" fmla="val 78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f4c757fa04421"/>
          <a:stretch xmlns:a="http://schemas.openxmlformats.org/drawingml/2006/main"/>
        </p:blipFill>
        <p:spPr>
          <a:xfrm xmlns:a="http://schemas.openxmlformats.org/drawingml/2006/main">
            <a:off x="8315598" y="1219200"/>
            <a:ext cx="2952204" cy="23622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A2FAD-50E9-4BF3-8BAE-0C50E8A8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3695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Компонентная схема: UI -&gt; orchestration graph -&gt; memory -&gt; tool layer -&gt; data и MCP.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FCB966-BE31-4788-91A5-64F1BD0E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81500"/>
            <a:ext cx="1943100" cy="2171700"/>
          </a:xfrm>
          <a:prstGeom xmlns:a="http://schemas.openxmlformats.org/drawingml/2006/main" prst="roundRect">
            <a:avLst>
              <a:gd name="adj" fmla="val 1274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25F1C-38EA-4623-8DB4-DC5D434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7AAF00-AFA3-421F-B1B1-884ABD3F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узлов в trace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F67095-C171-468C-8040-133F4007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81500"/>
            <a:ext cx="1943100" cy="2171700"/>
          </a:xfrm>
          <a:prstGeom xmlns:a="http://schemas.openxmlformats.org/drawingml/2006/main" prst="roundRect">
            <a:avLst>
              <a:gd name="adj" fmla="val 1274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AED2BF-FB04-425F-A3DD-42E0DDB5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52950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9A1D8A-EAA4-44B6-A946-F557765C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demo-сценария для защиты</a:t>
            </a:r>
          </a:p>
        </p:txBody>
      </p:sp>
    </p:spTree>
    <p:extLst>
      <p:ext uri="{BB962C8B-B14F-4D97-AF65-F5344CB8AC3E}">
        <p14:creationId xmlns:p14="http://schemas.microsoft.com/office/powerpoint/2010/main" val="18317053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D79240-25B0-4F94-9BF4-AA46021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7E1F7-ED74-40C7-97E6-52967188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3A101-11EF-42B4-B82C-2B219FE5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Что пользователь получает за один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2B86B-2BA2-45A6-8BBF-BFAD53A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11391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06B5E-01DB-444E-8BAF-4458974C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ЕСЛИ БЮДЖЕТ МЕНЯЕТСЯ ПОСЛЕ ПЕРВОГО ОТВЕТА, СИСТЕМА НЕ НАЧИНАЕТ ВСЁ ЗАНОВО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3C3CF-1540-4672-AA7B-7C872A87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905250" cy="25146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E3483-E48E-4857-B9C6-7598CCE4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3524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3BC52-EEC9-4EBB-895B-9012C2B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2956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BD44B-0148-4ACB-A9C5-079FBE0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Подбор по кейсу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E8CA8-D52C-4567-938C-834D041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524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Город, бюджет, дата въезда, состав домохозяйства, питомцы и время в пути.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BA9D6-F91E-4D16-AE47-FAA6FF0C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905250" cy="25146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F9981-0499-4271-B615-8BFF9B10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3524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E6D0F-F836-49F9-90B5-73C34591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956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EXPLAIN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30B84-35E3-4A22-9DE7-5185783F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Объяснение выбора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39AD3-D844-4374-9462-510519BC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3524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Показываем, почему вариант подходит, где компромиссы и какие стартовые расходы.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818A9-8A56-41BA-80F1-397D1E0C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3905250" cy="25146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36137-ACC5-45F5-807C-2BCD17C2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3524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07D63-F0A9-444B-B536-8EF52E7D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32956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REPLAN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873D7-6179-4227-9499-EEE65110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Пересборка shortlist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8C747-6591-40A9-ADA9-E21DB180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3524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При изменении бюджета, даты или города агент считает delta и обновляет решение.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CF794-6C1A-40E3-A8BD-1D79203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3905250" cy="25146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45BB9-602A-4C38-AF7D-B96B4E3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10050"/>
            <a:ext cx="3524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F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80C47-8746-4C0A-A3FF-A1C7DE6B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76725"/>
            <a:ext cx="329565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ESCALATE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D14FF-0407-49AC-B9C3-DE4D417A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Безопасная остановка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58D57-896A-4576-A4F9-60EB201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57750"/>
            <a:ext cx="3524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Документные и квази-юридические кейсы идут в clarification или handoff.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02D05-E10D-4E40-BFB3-DD9A88F6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24000"/>
            <a:ext cx="3238500" cy="502920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3F3BF-5B3D-4963-9053-3E3C11E4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Один запуск = один понятный результат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41525-55C9-4425-870E-BE9B5AF7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вход: сообщение пользователя + профиль кейса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3B4F80-9F11-4041-AD41-ED637494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процесс: search -&gt; score -&gt; verify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60D1E-4B63-4D21-936A-C6FC530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выход: shortlist + объяснение + предупреждения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C73F1-A69C-40A9-97DC-60D15505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follow-up: пересчёт относительно прошлого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2BA9E0-1DDB-482E-BB7B-CF23A27B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13716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4C4B56-F0B8-4CBA-98B0-8B3424B5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top-3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14B5E-8042-456F-B6C9-39EC4CD6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варианта на экране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BECFA-F8CD-4BB2-BB63-55327E4B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43250"/>
            <a:ext cx="13716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D2A106-AA6A-4E9A-A975-E1AB0037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1470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safe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4B3442-35F7-49E5-928A-0B990EE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147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guardrails в пайплайне</a:t>
            </a:r>
          </a:p>
        </p:txBody>
      </p:sp>
    </p:spTree>
    <p:extLst>
      <p:ext uri="{BB962C8B-B14F-4D97-AF65-F5344CB8AC3E}">
        <p14:creationId xmlns:p14="http://schemas.microsoft.com/office/powerpoint/2010/main" val="212119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F01E0-752E-470B-B9A0-1B7BDD29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79945-821B-4D81-A9A5-ECF1EE11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E77E6-4706-486A-A507-4ED6A677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Как агент принимает 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E6BF5-8AAD-4700-B027-68B01B2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7239000" cy="5467350"/>
          </a:xfrm>
          <a:prstGeom xmlns:a="http://schemas.openxmlformats.org/drawingml/2006/main" prst="roundRect">
            <a:avLst>
              <a:gd name="adj" fmla="val 4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deb23467c4991"/>
          <a:stretch xmlns:a="http://schemas.openxmlformats.org/drawingml/2006/main"/>
        </p:blipFill>
        <p:spPr>
          <a:xfrm xmlns:a="http://schemas.openxmlformats.org/drawingml/2006/main">
            <a:off x="533400" y="1644612"/>
            <a:ext cx="6972300" cy="21590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2D75B-6230-40C0-96DF-43AAD141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6972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Функциональный flow: запрос -&gt; поиск вариантов -&gt; ранжирование -&gt; проверка ограничений -&gt; ответ.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682BB-176D-48D1-8737-B595954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85850"/>
            <a:ext cx="3962400" cy="95250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597AB-201F-4960-9DAA-6CEC869F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81100"/>
            <a:ext cx="3695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BDAE0-1105-40E8-8888-F9FA4D2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47775"/>
            <a:ext cx="3467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INSTA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E7E00-AE52-4E4C-9E32-5F4128D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3695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После run агент помнит состояние кейса.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127A6-09C2-4A04-85D2-87B7A542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695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last_state, прошлый shortlist и case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D5E77-24CE-4533-A81D-A5D161A8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3962400" cy="1200150"/>
          </a:xfrm>
          <a:prstGeom xmlns:a="http://schemas.openxmlformats.org/drawingml/2006/main" prst="roundRect">
            <a:avLst>
              <a:gd name="adj" fmla="val 206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CF044-0B9E-4F03-A749-EC2FAABF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695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6A2D5-BD2B-4223-9EC5-EC7ED491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14575"/>
            <a:ext cx="3467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E6E6B-5275-40C2-BF2B-1D975411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Tool layer детерминирован.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C7C37-148B-4B72-BE3C-95985CC4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BCEE5-0DFE-42C8-BEFD-45F30C1E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C9A92-5451-4A6C-B330-B4ECE58D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EC540-4250-4D6F-9770-4353EDE2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БД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EB878-8D45-4647-B4D9-A6B1A40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765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0FECD-F515-4DC2-AE85-BA346369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43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22A96-3D58-4DD5-9C1E-50337B7C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0400"/>
            <a:ext cx="3695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policy search, SQLite, scoring и 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B92A7-D40F-4678-9A38-EB5EE32D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3962400" cy="125730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FDAA5-7BCC-4A13-B30E-DF64923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3695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8BE65-BDCF-4E13-AFA0-A623728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29025"/>
            <a:ext cx="3467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ЗАЧЕМ ТАК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19713-5730-4498-B25C-1BD87345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695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LLM включаем только для недетерминированных шагов.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70693-33E3-43AA-9649-11EAB246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3695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router, intake, replanner, final composer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9D9EF-27B6-4C45-ABB2-773FC53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3695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поиск, ранжирование и проверки - в коде</a:t>
            </a:r>
          </a:p>
        </p:txBody>
      </p:sp>
    </p:spTree>
    <p:extLst>
      <p:ext uri="{BB962C8B-B14F-4D97-AF65-F5344CB8AC3E}">
        <p14:creationId xmlns:p14="http://schemas.microsoft.com/office/powerpoint/2010/main" val="2151547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7BBE71-3DE2-4C7F-BF94-48655E4E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3E581-7084-45F3-8C22-20A39986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5AA44-BA30-47AA-811D-193F572C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Production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9BA1E-5FD1-4A05-848B-B5BE19E5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7239000" cy="5467350"/>
          </a:xfrm>
          <a:prstGeom xmlns:a="http://schemas.openxmlformats.org/drawingml/2006/main" prst="roundRect">
            <a:avLst>
              <a:gd name="adj" fmla="val 4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06afa90d943ba"/>
          <a:stretch xmlns:a="http://schemas.openxmlformats.org/drawingml/2006/main"/>
        </p:blipFill>
        <p:spPr>
          <a:xfrm xmlns:a="http://schemas.openxmlformats.org/drawingml/2006/main">
            <a:off x="1686357" y="1181100"/>
            <a:ext cx="4666386" cy="3733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6FFD9-53D3-407B-9142-B01A7F6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70104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Схема заземляет архитектуру; справа показано, что уже есть в прототипе и что нужно для боевого контура.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8F9B6-BF4F-4D6B-AA62-F73A800A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85850"/>
            <a:ext cx="39624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D9138-D113-4F03-8292-FA082F5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2475D-95A1-482D-9CEC-C6F4A7A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239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FRESHNESS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54F9C-A34E-478B-A321-9E6A683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Для данных есть явный operating contract.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4E080-447C-4005-8C28-B9C9C04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локальный каталог обновляется refresh job по 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A7E1E-FAB2-4C67-B757-46A7370D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после 24 часов показываем staleness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F70A1-4DF2-4022-8279-1AD3C2DB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policy corpus пересматривается по weekly cadence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05F92-762E-4B4D-8AEF-977DBD48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3962400" cy="1600200"/>
          </a:xfrm>
          <a:prstGeom xmlns:a="http://schemas.openxmlformats.org/drawingml/2006/main" prst="roundRect">
            <a:avLst>
              <a:gd name="adj" fmla="val 15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92299-8ACF-4E1E-808C-8A693E14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E1821-2B15-4300-B73D-5E4C8D8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622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УЖЕ ЕСТЬ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2E98F-D3E2-4C59-9BC2-AACCA15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358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Что реально реализовано в прототипе.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F9FF4-CC13-4786-89D9-0A3E61F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persistent memory в SQLite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BE740-0242-4BA0-A7DB-FE3A1AA4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576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write-back в профиль кейса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1C30B-EB9F-47A2-B273-F4AD8D9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fallback при сбое MCP provider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4AFEB-A273-498E-A819-DCA702D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3962400" cy="2076450"/>
          </a:xfrm>
          <a:prstGeom xmlns:a="http://schemas.openxmlformats.org/drawingml/2006/main" prst="roundRect">
            <a:avLst>
              <a:gd name="adj" fmla="val 11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E9EA7-2D89-4672-9A65-73CD869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12562-57C6-47C4-A4C7-82599181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148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OBSERVABILITY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60521-4575-4571-ACDD-FB55BA38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Ключевые сигналы уже определены.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3AB94-F247-443E-9061-C3E3C70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959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latency: agent_run, listing_search, MCP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BD33C2-150C-43B2-9149-269799D8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816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quality: nightly QA gate и quality gate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34EA1-0253-4CC4-B04E-334B25F4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674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empty_shortlist_rate, escalation_rate, freshness age</a:t>
            </a:r>
          </a:p>
        </p:txBody>
      </p:sp>
    </p:spTree>
    <p:extLst>
      <p:ext uri="{BB962C8B-B14F-4D97-AF65-F5344CB8AC3E}">
        <p14:creationId xmlns:p14="http://schemas.microsoft.com/office/powerpoint/2010/main" val="14757346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5B0EDE-7727-48F7-B605-E628F2DA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2DE51-F0F6-47E9-A29A-BC477E42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EXTERNAL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818E2-E11E-4D87-B68E-BFF8F2F4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MCP Cian, с которым работает агент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335C9-B26A-4ED6-9661-C7C0E60E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7239000" cy="5467350"/>
          </a:xfrm>
          <a:prstGeom xmlns:a="http://schemas.openxmlformats.org/drawingml/2006/main" prst="roundRect">
            <a:avLst>
              <a:gd name="adj" fmla="val 4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d17ac5ee49d1"/>
          <a:stretch xmlns:a="http://schemas.openxmlformats.org/drawingml/2006/main"/>
        </p:blipFill>
        <p:spPr>
          <a:xfrm xmlns:a="http://schemas.openxmlformats.org/drawingml/2006/main">
            <a:off x="819721" y="1181100"/>
            <a:ext cx="6399657" cy="3733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C39EA-9D9A-4DE0-8591-CE63B697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70104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Cian не живёт отдельно: его выдача нормализуется в ту же модель Listing и попадает в тот же shortlist.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FEB41-09E4-4A8C-A2B2-E257666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85850"/>
            <a:ext cx="39624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23157-2A06-4553-9422-7E409773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D7196-8F47-42D4-8B2B-B6F6BC4F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239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ПРОВЕРЕННЫЙ ПРИМЕР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9A968-201B-4B99-8956-E150B96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Live-capture от 2026-06-14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17A6D-9FFC-42FA-A268-6508B2F1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провайдер: Apify 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0013E-1CE6-4D6A-8F38-D86525F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инструмент: cian-ru-scraper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76922-F830-4A7B-82BB-8EEC54B3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запрос: Moscow, 1 room, 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D7E93-5940-4E74-BDC6-0822EDB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2573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8BC52-CB98-4CF2-AB44-98CFECCE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25k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CF95C-6419-426A-94DF-AF23FDB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₽ • #998771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D757F-CD71-44E2-A1DC-FED44AF0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12573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D5BB7-08E4-4451-9721-9F143B9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9560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38k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26383-95BA-4E68-BE2C-26E683C0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95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₽ • #995460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1EB48-E8F8-4E34-A5B3-1B02D55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24150"/>
            <a:ext cx="12573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E92BE4-8D79-4335-950F-C85F1206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9560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45k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12AC0-A403-4B45-B8BA-D57CBFA2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95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₽ • #992338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36D3D-F9EB-4AA0-B0E0-3770923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90950"/>
            <a:ext cx="3962400" cy="2762250"/>
          </a:xfrm>
          <a:prstGeom xmlns:a="http://schemas.openxmlformats.org/drawingml/2006/main" prst="roundRect">
            <a:avLst>
              <a:gd name="adj" fmla="val 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81BDC-69BC-41D7-AE28-43DAC3F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29673-25C8-4581-B5B2-77B7F01B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290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38201-51F6-48B4-B72B-D479EB3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Почему этот слой важен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7294E-FCBF-4FDA-9BB6-76F5F91D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новые providers чаще подключаются через config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C895A-2E73-4B8F-B2C4-852DC002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aliases, mapping и defaults живут вне графа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6DB9A-8151-4A98-929B-F33A014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816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timeout или provider fail -&gt; fallback на локальные объявления</a:t>
            </a:r>
          </a:p>
        </p:txBody>
      </p:sp>
    </p:spTree>
    <p:extLst>
      <p:ext uri="{BB962C8B-B14F-4D97-AF65-F5344CB8AC3E}">
        <p14:creationId xmlns:p14="http://schemas.microsoft.com/office/powerpoint/2010/main" val="7875314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274AE-CC36-410E-A01C-73306EFC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94560-DAD6-470D-9DD1-44C560BA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D3CBF-1B6A-4D79-B94C-B06DE6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Отдельный demo режим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78E9C-9FE3-454A-B2C4-E74952A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3048000" cy="200025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50DA9-145C-4C0C-A16F-9A8155D1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2667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2C157-A5EA-492B-8B7B-8F90255B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24384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DEMO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AB737-5C1B-4A2F-8947-D643F5B4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66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Без живой LLM, но с тем же пайплайном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C8492-464B-4A95-ABBD-03614558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demo_stub заменяет только недетерминированные шаги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5D11C-A3AB-451B-A2BD-35B9FF20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search, scoring и verifier работают как обычно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257F6-88E5-471A-99C1-94CFC110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поэтому скриншоты и повторяемость честные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C0C96-A0CE-4F94-BE4C-F3E10441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85850"/>
            <a:ext cx="8172450" cy="200025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0127A-3AA6-4D31-8958-E89587EC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5730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Что показать на защите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6FC17-1B1F-4E3B-AFDC-4DBD955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2508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1. Search: top-3 shortlist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9C74D-9CAB-49F3-827E-58CBB52E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581150"/>
            <a:ext cx="2508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2. Replanning: изменение бюджета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D18B3-434F-420F-88BF-1A52D243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1581150"/>
            <a:ext cx="2508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3. Escalation: document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6BC13-CA55-473C-AC82-C2F328B1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708400" cy="3295650"/>
          </a:xfrm>
          <a:prstGeom xmlns:a="http://schemas.openxmlformats.org/drawingml/2006/main" prst="roundRect">
            <a:avLst>
              <a:gd name="adj" fmla="val 7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18269aada4c30"/>
          <a:srcRect xmlns:a="http://schemas.openxmlformats.org/drawingml/2006/main" l="0" t="5716" r="0" b="5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3352800"/>
            <a:ext cx="3517900" cy="1752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5A766-A3CE-4866-9944-0D464C4D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3517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8431D-868D-4D14-8AE1-E9E506B0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3517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Happy path: кейс R-0002, top-3 и вкладка shortlist.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85CA4-814A-4A5A-B5ED-B0354CBF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257550"/>
            <a:ext cx="3708400" cy="3295650"/>
          </a:xfrm>
          <a:prstGeom xmlns:a="http://schemas.openxmlformats.org/drawingml/2006/main" prst="roundRect">
            <a:avLst>
              <a:gd name="adj" fmla="val 7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5bda9e8c246d4"/>
          <a:srcRect xmlns:a="http://schemas.openxmlformats.org/drawingml/2006/main" l="0" t="5716" r="0" b="5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7050" y="3352800"/>
            <a:ext cx="3517900" cy="1752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A78C6-6DF4-44D9-93E4-4D1C382C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5181600"/>
            <a:ext cx="3517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Replanning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DBB70-9488-4CC8-8FA4-68D90766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5505450"/>
            <a:ext cx="3517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Changed constraints видно прямо в состоянии агента.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C38E0-B4CD-4A40-A701-70E31D3B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257550"/>
            <a:ext cx="3708400" cy="3295650"/>
          </a:xfrm>
          <a:prstGeom xmlns:a="http://schemas.openxmlformats.org/drawingml/2006/main" prst="roundRect">
            <a:avLst>
              <a:gd name="adj" fmla="val 7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21c7b08e44fee"/>
          <a:srcRect xmlns:a="http://schemas.openxmlformats.org/drawingml/2006/main" l="0" t="5716" r="0" b="5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8800" y="3352800"/>
            <a:ext cx="3517900" cy="1752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92B5C-E84B-4546-8C0D-4B0688F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5181600"/>
            <a:ext cx="3517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Escalation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66E24-B4B5-407F-AC8C-2B4AB7A3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5505450"/>
            <a:ext cx="3517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Verifier не даёт unsafe shortlist и предлагает human handoff.</a:t>
            </a:r>
          </a:p>
        </p:txBody>
      </p:sp>
    </p:spTree>
    <p:extLst>
      <p:ext uri="{BB962C8B-B14F-4D97-AF65-F5344CB8AC3E}">
        <p14:creationId xmlns:p14="http://schemas.microsoft.com/office/powerpoint/2010/main" val="11589197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86ED2-EA1E-4E88-B6D1-42124362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CE457-24E5-4524-BAD9-ED40F315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F3A2C-B1AE-40E9-B86E-83E5D0B6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Как мы считаем score и как его проверяем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EDBBB-7D5B-4B4A-BD44-9F304CB1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7239000" cy="3067050"/>
          </a:xfrm>
          <a:prstGeom xmlns:a="http://schemas.openxmlformats.org/drawingml/2006/main" prst="roundRect">
            <a:avLst>
              <a:gd name="adj" fmla="val 80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D980D-03F7-4BAE-84FD-C35DF2F4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6858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09236-4CF4-499A-A9E7-B21FE8A3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66294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SHORTLIST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B396C-EC14-40DF-9988-F6912BDC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Как считается score shortlist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0C148-5E67-48C4-8FD3-48498F70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685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Это внутренний ranking score для объявлений: он помогает упорядочить кандидатов до verifier и финального ответа.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47079-3857-4B1D-A06A-7A8F6431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22225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112C6-990C-48C5-A9D7-E2CCD40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62A6A-CE05-4D1C-BD13-A341C36B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budget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D430E-E118-4C42-927F-857AE37A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2419350"/>
            <a:ext cx="22225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0735F-5D3A-4D99-9EF2-55FADA5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59080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00861-A54F-4859-8318-8B754A35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99085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commute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9D5DF-5A2F-4763-B3A6-C8AF2ED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050" y="2419350"/>
            <a:ext cx="22225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8494E-8B48-4639-9A66-754DE348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259080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525D5-1A9A-4C10-8853-95A35F6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299085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household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6F864-F19A-4540-A645-07F5B43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2225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24C8C-62A1-4473-B390-042D505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9E389-D183-452F-9080-ED0F8D56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district 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CD780-88E8-44E5-BA3E-BC34E67D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3371850"/>
            <a:ext cx="22225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2ABD5-B352-4950-BDE4-7498103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354330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2CA2F-D49C-4E86-AE6F-F393AB60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394335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pet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3CF64-73A1-421D-B8DE-4F81ECE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050" y="3371850"/>
            <a:ext cx="22225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2F4EB-BCA6-4E66-B39A-75865701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354330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4CE37-74FE-4A22-AF47-F8FC70A9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3943350"/>
            <a:ext cx="184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upfront fit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6B4B5-EFA2-43F6-A375-25550424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239000" cy="224790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6770EB-27B0-453A-9733-454B53A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6858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69038-02A4-4144-A5B4-DFD91985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66294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НА КАКИХ ДАННЫХ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204B1-D5F5-417C-AAE6-42A1E5C7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Что входит в расчёт shortlist 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8FDDF6-BB4B-41A3-8565-437B0C99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listing: rent, rooms, deposit, furnished, pet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9BE6D6-097B-4BF5-AF66-519E16E4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district: safety, transit, school, family-friendly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DC41C-F4AF-4B1B-B6FF-25E379C0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requirements: budget, move-in date, pets, commute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3E4C22-2C97-4BB9-A649-4B05A583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85850"/>
            <a:ext cx="3962400" cy="161925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488FD0-D03D-4DA1-BFE0-6DCE707E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2E42CB-9B11-4770-9B44-DF47FDA2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239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OFFLINE BENCHMARK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BC28EA-C780-4AFD-8718-B4A04E1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Как оцениваем модель офлайн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E013FF-6AC4-43F3-A2C8-1F51A1C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тот же data/qa/qa.jsonl как suite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6DBA6F-C700-4939-9098-A082E9DA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для live LLM запускаем run_benchmark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89937D-1362-4848-AE6F-65AE2988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384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минимум 3 trial, лучше 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654038-1FC0-4F4D-8B44-411441CD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fresh SQLite для каждого trial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73B9CE-15BC-478A-B81E-C0EE3F97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962400" cy="161925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B5A37B-9255-4649-9201-781AA8D5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1457EC-E62F-4512-AA7D-CEF5558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9562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ЧТО СРАВНИВАЕМ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F6836C-D9C8-4255-ACBA-9A765A5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Метрики для сравнения вариантов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AD49E9-3AC9-44D6-AAE6-DB9D7D8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domain metrics и quality gate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799813-D932-4B09-AF11-1E3E2D2D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mean_case_score и case pass rate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76BB29-3988-4C09-852E-718F1D88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case_pass_all_k и outcome_consistency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3C200F-A29E-4AB2-8FA1-09125C1C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mean latency и p95 latency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EBB263-DE79-479D-A74D-6D119B0A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962400" cy="1619250"/>
          </a:xfrm>
          <a:prstGeom xmlns:a="http://schemas.openxmlformats.org/drawingml/2006/main" prst="roundRect">
            <a:avLst>
              <a:gd name="adj" fmla="val 1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175FBF-4392-4D71-9A90-C0723BC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F2F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A2567E-8782-451D-A47C-B763A40B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672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HUMAN FEEDBACK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F2B905-9CB3-4DC4-9B84-BE62C04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Как оцениваем live-режим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C43E16-7AE1-45CA-B5B7-AAEDDFCE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483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task_completion, constraint_fit, relevance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D7F2A5-D430-45E1-8D94-C44122EF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150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clarity, safety_trust, would_use_again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F3D33D-D6AC-4056-8BE1-D94A602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817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critical_issue_yes_no как стоп-сигнал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F48DEA-DD49-42C9-90AB-7B69209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248400"/>
            <a:ext cx="358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шаблон feedback лежит в data/qa</a:t>
            </a:r>
          </a:p>
        </p:txBody>
      </p:sp>
    </p:spTree>
    <p:extLst>
      <p:ext uri="{BB962C8B-B14F-4D97-AF65-F5344CB8AC3E}">
        <p14:creationId xmlns:p14="http://schemas.microsoft.com/office/powerpoint/2010/main" val="21036257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FDB00-2A63-403C-A8E7-D2B5EC4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AF985-4DC8-487F-9266-6ACE00C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AE8AB-64B9-47B3-BFED-ACB2C2C3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Сколько времени занимает каждый этап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FBB8A-BDD1-4960-8E5D-2EEF66EF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7239000" cy="5467350"/>
          </a:xfrm>
          <a:prstGeom xmlns:a="http://schemas.openxmlformats.org/drawingml/2006/main" prst="roundRect">
            <a:avLst>
              <a:gd name="adj" fmla="val 4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765b9c6c64562"/>
          <a:stretch xmlns:a="http://schemas.openxmlformats.org/drawingml/2006/main"/>
        </p:blipFill>
        <p:spPr>
          <a:xfrm xmlns:a="http://schemas.openxmlformats.org/drawingml/2006/main">
            <a:off x="689116" y="1181100"/>
            <a:ext cx="6660868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A89B3-6380-4125-80B3-4C748F8C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70104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Замерено через AgentTraceStep на live OpenRouter run от 2026-06-15.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32BE7-F4F3-4537-9E5B-F4792F8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85850"/>
            <a:ext cx="12446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64ABF-944D-473C-84D6-21C1ADE6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86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10.2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BF64F-2B3C-4006-B305-C019EE18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86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общий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48053-F3D7-4A47-93E0-3DC16EF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450" y="1085850"/>
            <a:ext cx="12446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53445-B91B-4B11-BAA1-461AB878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1257300"/>
            <a:ext cx="86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5.4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9B89F-E2AA-4539-B1C8-9832AC36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1657350"/>
            <a:ext cx="86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4F4CE-4999-4D95-BC8D-C80A1A88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350" y="1085850"/>
            <a:ext cx="1244600" cy="10668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32187-310B-4231-AA5B-C67F237B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850" y="1257300"/>
            <a:ext cx="86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3.2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A85EA-B73A-4DB4-AB66-F3371CCE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850" y="1657350"/>
            <a:ext cx="86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final composer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6E105-AACD-4B61-AAD8-C2C4EFE3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3962400" cy="1714500"/>
          </a:xfrm>
          <a:prstGeom xmlns:a="http://schemas.openxmlformats.org/drawingml/2006/main" prst="roundRect">
            <a:avLst>
              <a:gd name="adj" fmla="val 1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FDA23-8DA1-4A95-B6D8-401176FA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48616-5D60-4823-9E26-BD8C86E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ЗАЧЕМ ЭТО НУЖНО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AF3B4-CA9D-4482-8D70-A872362D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3581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Trace показывает не только latency, но и реальный маршрут запроса.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58B99-CD9C-47EE-95BC-5B08CF45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видно шаги, которые агент реально прошёл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AD8A8-DFA1-47A0-AFAA-78B5FC63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видно момент ухода в clarification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8A5BC-23AB-44AD-8480-5A4BDB4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3962400" cy="2533650"/>
          </a:xfrm>
          <a:prstGeom xmlns:a="http://schemas.openxmlformats.org/drawingml/2006/main" prst="roundRect">
            <a:avLst>
              <a:gd name="adj" fmla="val 9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A74B0-EE41-4F3A-9116-6E233648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3581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5A194-B0E4-4E7F-8541-F8763128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57675"/>
            <a:ext cx="33528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НАБЛЮДЕНИЕ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0D055-5303-4AFA-8BDB-39A351AF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33900"/>
            <a:ext cx="3581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В этом live кейсе почти вся стоимость сидит в LLM-узлах.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8CE3EB-716C-4DBF-9D03-014BA471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router + intake + final composer = 10.19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EEEC2-5BC0-4B2C-BCA5-CDCFAAC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24500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детерминированный контур занял около 6 ms</a:t>
            </a:r>
          </a:p>
        </p:txBody>
      </p:sp>
    </p:spTree>
    <p:extLst>
      <p:ext uri="{BB962C8B-B14F-4D97-AF65-F5344CB8AC3E}">
        <p14:creationId xmlns:p14="http://schemas.microsoft.com/office/powerpoint/2010/main" val="15451778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083CF-2CF0-4EB5-ACFD-D16792ED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A1B61-C98C-4E9F-A6FE-42AA922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KNOWN ISSUES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A1FED-C060-430D-91F3-ACEBF9E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Проблемы, с которыми мы сталкивались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BB805-64ED-4706-8DA6-0311DFCE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5610225" cy="2733675"/>
          </a:xfrm>
          <a:prstGeom xmlns:a="http://schemas.openxmlformats.org/drawingml/2006/main" prst="roundRect">
            <a:avLst>
              <a:gd name="adj" fmla="val 9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129F3-AEBD-4E9F-90E5-943D21ED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2292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8EFD5-D9DF-4930-BE48-0B20851B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500062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80A61-57B4-4DE6-B7E9-5F18D00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52292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LLM routing failed: Connection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8BF1A-68CE-4772-86BF-97D5D581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522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symptom: UI падал с traceback вместо ответа.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CC95F-BF3E-4E01-9CB7-2C667904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cause: Live OpenRouter-вызов отваливался по сети, а ранний код не имел мягкого fallback.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D0B38-DDCC-459D-8BB0-770FEEB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fix: Добавлен fallback на demo LLM для routing, intake, replanning и final composition.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44DB5-AADF-4325-AB2D-7AB2CC5E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085850"/>
            <a:ext cx="5610225" cy="2733675"/>
          </a:xfrm>
          <a:prstGeom xmlns:a="http://schemas.openxmlformats.org/drawingml/2006/main" prst="roundRect">
            <a:avLst>
              <a:gd name="adj" fmla="val 9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AFC13-B741-4B0A-865E-4202A84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257300"/>
            <a:ext cx="52292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D03C3-AB2C-4107-A407-99B079F3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23975"/>
            <a:ext cx="500062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86E35-B59D-455A-8AD1-27FDE9D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00200"/>
            <a:ext cx="52292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Бюджет брался из даты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44AB6-57FF-4A64-96AF-39A3D710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57400"/>
            <a:ext cx="522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symptom: Строка 07.07.2026, 1000 usd могла давать budget = 2026.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BD252-4F5A-4534-94DD-8BD99B0B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cause: Fallback-parser ловил первое похожее число и не исключал дату.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FC06D-5208-4347-8F85-86165C34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52750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fix: Теперь бюджет ищется как сумма с валютой, а дата фильтруется отдельно.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90B6D-1ADF-42C5-8084-ADCC1160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5610225" cy="2733675"/>
          </a:xfrm>
          <a:prstGeom xmlns:a="http://schemas.openxmlformats.org/drawingml/2006/main" prst="roundRect">
            <a:avLst>
              <a:gd name="adj" fmla="val 9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A44D1-7F68-4C31-900D-96D5A20B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52292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E34C2-A311-4371-A0A5-1D594AAF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500062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CURRENCY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DDB03-0323-4F7D-ACAD-93FD5ED0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52292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Москва + 2000 USD давали пустой Cian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8F5AC-C623-4D83-AF0A-46FFD0E1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522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symptom: Живой provider отвечал пусто даже при доступном MCP.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DD2F7-EAE9-43E7-BCBF-55BAE9E4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cause: USD-бюджет уходил в Cian как RUB, потому что не было currency conversion.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CFBA7-3C08-43B0-9CE9-5540673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6425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fix: Добавлены budget_currency и конвертация request/result contract.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FF4F8A-3D15-4631-A124-32F672BF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19525"/>
            <a:ext cx="5610225" cy="2733675"/>
          </a:xfrm>
          <a:prstGeom xmlns:a="http://schemas.openxmlformats.org/drawingml/2006/main" prst="roundRect">
            <a:avLst>
              <a:gd name="adj" fmla="val 9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F3141-3805-4F72-947E-06ED4DDB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90975"/>
            <a:ext cx="52292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05DA8-3F5B-4C15-BE35-1427A7A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57650"/>
            <a:ext cx="500062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ENV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1EBA77-40F4-4C37-A66C-39E751A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33875"/>
            <a:ext cx="52292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Cian ломался только внутри приложения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0CD56C-5CEA-4273-A64E-30EF983E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91075"/>
            <a:ext cx="522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symptom: Изолированный search работал, а полный graph ловил ConnectError.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B432B-E87D-422D-92A7-01A4E268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91125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cause: GraphDependencies подхватывал домашний .env с битым proxy вместо проектного.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AD57F-F9D1-4D8D-A12E-2FA4A6B5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686425"/>
            <a:ext cx="5229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fix: Чтение .env ограничено локальным проектом.</a:t>
            </a:r>
          </a:p>
        </p:txBody>
      </p:sp>
    </p:spTree>
    <p:extLst>
      <p:ext uri="{BB962C8B-B14F-4D97-AF65-F5344CB8AC3E}">
        <p14:creationId xmlns:p14="http://schemas.microsoft.com/office/powerpoint/2010/main" val="9353515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75E3E-C5FC-497E-B9E9-0A5547AB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F620D-CFC8-49D8-8990-D9B73722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64FAC-D32E-4F7C-B1DE-A04DC86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Что важно вынести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9F07F-3AC5-411E-8C8E-C76F832C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2747963" cy="1695450"/>
          </a:xfrm>
          <a:prstGeom xmlns:a="http://schemas.openxmlformats.org/drawingml/2006/main" prst="roundRect">
            <a:avLst>
              <a:gd name="adj" fmla="val 14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DFD0E-010A-4C33-B71F-A532638B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2366963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37986-A5D4-4720-A488-47365479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2138363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0A625-2628-4EAA-AD88-4395DB24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366963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Агентность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54331-9951-42CC-BD41-3E713183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366963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роли, память, replanning, verifier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8B236-6F5F-4309-B5B3-C273348F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085850"/>
            <a:ext cx="2747963" cy="1695450"/>
          </a:xfrm>
          <a:prstGeom xmlns:a="http://schemas.openxmlformats.org/drawingml/2006/main" prst="roundRect">
            <a:avLst>
              <a:gd name="adj" fmla="val 14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F8C6F-BBE1-45D7-9CE9-B37E445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1257300"/>
            <a:ext cx="2366963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CF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75A29-6420-43E8-814B-1B42F29D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1323975"/>
            <a:ext cx="2138363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D1F25-27C3-44D5-AE7A-127637D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1600200"/>
            <a:ext cx="2366963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Воспроизводимость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EEB7A-95C4-417A-93AF-974EFEC0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1924050"/>
            <a:ext cx="2366963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demo_stub, локальная БД, QA runner,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42412-66CC-41D0-9968-30A93E66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085850"/>
            <a:ext cx="2747963" cy="1695450"/>
          </a:xfrm>
          <a:prstGeom xmlns:a="http://schemas.openxmlformats.org/drawingml/2006/main" prst="roundRect">
            <a:avLst>
              <a:gd name="adj" fmla="val 14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3EF63-3902-4AC4-9E49-42D07051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257300"/>
            <a:ext cx="2366963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65FC5-C582-4DF8-93B4-0B07A922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323975"/>
            <a:ext cx="2138363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2DDBF-921A-495D-81AD-D12C6FF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00200"/>
            <a:ext cx="2366963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Safety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0AD47-5E92-4A3D-843E-0F28FFB3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24050"/>
            <a:ext cx="2366963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clarification и escalation вместо ложной уверенности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ADB6B-2F2A-4582-A23A-4A780313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085850"/>
            <a:ext cx="2747963" cy="1695450"/>
          </a:xfrm>
          <a:prstGeom xmlns:a="http://schemas.openxmlformats.org/drawingml/2006/main" prst="roundRect">
            <a:avLst>
              <a:gd name="adj" fmla="val 14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5C56C-7A9F-4C4D-ABD3-EFFFE0C3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1257300"/>
            <a:ext cx="2366963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F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847D3-8AAE-40F6-A1BC-BE14AF7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788" y="1323975"/>
            <a:ext cx="2138363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5A251-3A52-4466-AD4F-7CC8087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1600200"/>
            <a:ext cx="2366963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Расширяемость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5FC2A-2D36-45D6-A001-515A8A3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1924050"/>
            <a:ext cx="2366963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typed tools и config-driven путь для 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CF3D4-5065-4EBC-95A3-C2D4CE0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29000" cy="360045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6AC01-5485-41C8-8D01-C3FC737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Возможные улучшения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7C7A9-A3E5-44E0-B386-51D30A85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SSO, observability, стабильный live MCP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D03E7-6696-4AB0-9736-6F299A3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7791450" cy="3600450"/>
          </a:xfrm>
          <a:prstGeom xmlns:a="http://schemas.openxmlformats.org/drawingml/2006/main" prst="roundRect">
            <a:avLst>
              <a:gd name="adj" fmla="val 6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D88D1-5767-4FA2-8929-36CC263A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741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Главный тезис для защиты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1D7DA-7F9F-4AF7-8BF3-B0854C0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74104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Проект уже показывает базовые признаки агента: он понимает намерение, хранит контекст, вызывает инструменты, может пересобрать решение и умеет остановиться, когда автоматизация небезопасна.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443C5D-C15E-4D19-91C0-59B0FEBE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43400"/>
            <a:ext cx="7410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3"/>
                </a:solidFill>
                <a:latin typeface="Aptos"/>
                <a:ea typeface="Aptos"/>
                <a:cs typeface="Aptos"/>
              </a:defRPr>
            </a:pPr>
            <a:r>
              <a:t>- Главная ценность здесь - в управляемом workflow, а не в одном сильном prompt.</a:t>
            </a:r>
          </a:p>
        </p:txBody>
      </p:sp>
    </p:spTree>
    <p:extLst>
      <p:ext uri="{BB962C8B-B14F-4D97-AF65-F5344CB8AC3E}">
        <p14:creationId xmlns:p14="http://schemas.microsoft.com/office/powerpoint/2010/main" val="1124609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2026-06-15T16:04:24.8350000Z</dcterms:created>
  <dcterms:modified xsi:type="dcterms:W3CDTF">2026-06-15T16:04:24.8350000Z</dcterms:modified>
</coreProperties>
</file>